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406" r:id="rId5"/>
    <p:sldId id="415" r:id="rId6"/>
    <p:sldId id="418" r:id="rId7"/>
    <p:sldId id="416" r:id="rId8"/>
    <p:sldId id="421" r:id="rId9"/>
    <p:sldId id="423" r:id="rId10"/>
    <p:sldId id="420" r:id="rId11"/>
    <p:sldId id="417" r:id="rId12"/>
    <p:sldId id="422" r:id="rId13"/>
    <p:sldId id="419" r:id="rId14"/>
    <p:sldId id="408" r:id="rId15"/>
    <p:sldId id="409" r:id="rId16"/>
    <p:sldId id="410" r:id="rId17"/>
    <p:sldId id="411" r:id="rId18"/>
    <p:sldId id="412" r:id="rId19"/>
    <p:sldId id="413"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CBCAB04-445C-2E8D-A65C-9E876A4789B9}" name="Park  Chan Hyung" initials="PCH" userId="S::chpark@ethz.ch::49aa19e1-0eb9-4ecf-b4e4-10f110efab5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05F"/>
    <a:srgbClr val="F27E3A"/>
    <a:srgbClr val="122F5F"/>
    <a:srgbClr val="008F00"/>
    <a:srgbClr val="FFA572"/>
    <a:srgbClr val="FF853F"/>
    <a:srgbClr val="1F407A"/>
    <a:srgbClr val="FF8944"/>
    <a:srgbClr val="F89E70"/>
    <a:srgbClr val="DB71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73" autoAdjust="0"/>
    <p:restoredTop sz="97872"/>
  </p:normalViewPr>
  <p:slideViewPr>
    <p:cSldViewPr snapToGrid="0" showGuides="1">
      <p:cViewPr varScale="1">
        <p:scale>
          <a:sx n="82" d="100"/>
          <a:sy n="82" d="100"/>
        </p:scale>
        <p:origin x="1142" y="72"/>
      </p:cViewPr>
      <p:guideLst>
        <p:guide orient="horz" pos="2160"/>
        <p:guide pos="3840"/>
      </p:guideLst>
    </p:cSldViewPr>
  </p:slideViewPr>
  <p:notesTextViewPr>
    <p:cViewPr>
      <p:scale>
        <a:sx n="1" d="1"/>
        <a:sy n="1" d="1"/>
      </p:scale>
      <p:origin x="0" y="0"/>
    </p:cViewPr>
  </p:notesTextViewPr>
  <p:notesViewPr>
    <p:cSldViewPr snapToGrid="0" showGuides="1">
      <p:cViewPr varScale="1">
        <p:scale>
          <a:sx n="171" d="100"/>
          <a:sy n="171" d="100"/>
        </p:scale>
        <p:origin x="2024"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19.02.2026</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19.02.2026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a:t>
            </a:fld>
            <a:endParaRPr lang="de-CH"/>
          </a:p>
        </p:txBody>
      </p:sp>
    </p:spTree>
    <p:extLst>
      <p:ext uri="{BB962C8B-B14F-4D97-AF65-F5344CB8AC3E}">
        <p14:creationId xmlns:p14="http://schemas.microsoft.com/office/powerpoint/2010/main" val="599627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2</a:t>
            </a:fld>
            <a:endParaRPr lang="de-CH"/>
          </a:p>
        </p:txBody>
      </p:sp>
    </p:spTree>
    <p:extLst>
      <p:ext uri="{BB962C8B-B14F-4D97-AF65-F5344CB8AC3E}">
        <p14:creationId xmlns:p14="http://schemas.microsoft.com/office/powerpoint/2010/main" val="89511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3</a:t>
            </a:fld>
            <a:endParaRPr lang="de-CH"/>
          </a:p>
        </p:txBody>
      </p:sp>
    </p:spTree>
    <p:extLst>
      <p:ext uri="{BB962C8B-B14F-4D97-AF65-F5344CB8AC3E}">
        <p14:creationId xmlns:p14="http://schemas.microsoft.com/office/powerpoint/2010/main" val="3338322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4</a:t>
            </a:fld>
            <a:endParaRPr lang="de-CH"/>
          </a:p>
        </p:txBody>
      </p:sp>
    </p:spTree>
    <p:extLst>
      <p:ext uri="{BB962C8B-B14F-4D97-AF65-F5344CB8AC3E}">
        <p14:creationId xmlns:p14="http://schemas.microsoft.com/office/powerpoint/2010/main" val="60401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5</a:t>
            </a:fld>
            <a:endParaRPr lang="de-CH"/>
          </a:p>
        </p:txBody>
      </p:sp>
    </p:spTree>
    <p:extLst>
      <p:ext uri="{BB962C8B-B14F-4D97-AF65-F5344CB8AC3E}">
        <p14:creationId xmlns:p14="http://schemas.microsoft.com/office/powerpoint/2010/main" val="606966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6</a:t>
            </a:fld>
            <a:endParaRPr lang="de-CH"/>
          </a:p>
        </p:txBody>
      </p:sp>
    </p:spTree>
    <p:extLst>
      <p:ext uri="{BB962C8B-B14F-4D97-AF65-F5344CB8AC3E}">
        <p14:creationId xmlns:p14="http://schemas.microsoft.com/office/powerpoint/2010/main" val="1554195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7</a:t>
            </a:fld>
            <a:endParaRPr lang="de-CH"/>
          </a:p>
        </p:txBody>
      </p:sp>
    </p:spTree>
    <p:extLst>
      <p:ext uri="{BB962C8B-B14F-4D97-AF65-F5344CB8AC3E}">
        <p14:creationId xmlns:p14="http://schemas.microsoft.com/office/powerpoint/2010/main" val="2177988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8</a:t>
            </a:fld>
            <a:endParaRPr lang="de-CH"/>
          </a:p>
        </p:txBody>
      </p:sp>
    </p:spTree>
    <p:extLst>
      <p:ext uri="{BB962C8B-B14F-4D97-AF65-F5344CB8AC3E}">
        <p14:creationId xmlns:p14="http://schemas.microsoft.com/office/powerpoint/2010/main" val="2573635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9</a:t>
            </a:fld>
            <a:endParaRPr lang="de-CH"/>
          </a:p>
        </p:txBody>
      </p:sp>
    </p:spTree>
    <p:extLst>
      <p:ext uri="{BB962C8B-B14F-4D97-AF65-F5344CB8AC3E}">
        <p14:creationId xmlns:p14="http://schemas.microsoft.com/office/powerpoint/2010/main" val="1295929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10</a:t>
            </a:fld>
            <a:endParaRPr lang="de-CH"/>
          </a:p>
        </p:txBody>
      </p:sp>
    </p:spTree>
    <p:extLst>
      <p:ext uri="{BB962C8B-B14F-4D97-AF65-F5344CB8AC3E}">
        <p14:creationId xmlns:p14="http://schemas.microsoft.com/office/powerpoint/2010/main" val="248243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11</a:t>
            </a:fld>
            <a:endParaRPr lang="de-CH"/>
          </a:p>
        </p:txBody>
      </p:sp>
    </p:spTree>
    <p:extLst>
      <p:ext uri="{BB962C8B-B14F-4D97-AF65-F5344CB8AC3E}">
        <p14:creationId xmlns:p14="http://schemas.microsoft.com/office/powerpoint/2010/main" val="4003594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12</a:t>
            </a:fld>
            <a:endParaRPr lang="de-CH"/>
          </a:p>
        </p:txBody>
      </p:sp>
    </p:spTree>
    <p:extLst>
      <p:ext uri="{BB962C8B-B14F-4D97-AF65-F5344CB8AC3E}">
        <p14:creationId xmlns:p14="http://schemas.microsoft.com/office/powerpoint/2010/main" val="2075211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13</a:t>
            </a:fld>
            <a:endParaRPr lang="de-CH"/>
          </a:p>
        </p:txBody>
      </p:sp>
    </p:spTree>
    <p:extLst>
      <p:ext uri="{BB962C8B-B14F-4D97-AF65-F5344CB8AC3E}">
        <p14:creationId xmlns:p14="http://schemas.microsoft.com/office/powerpoint/2010/main" val="2336586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14</a:t>
            </a:fld>
            <a:endParaRPr lang="de-CH"/>
          </a:p>
        </p:txBody>
      </p:sp>
    </p:spTree>
    <p:extLst>
      <p:ext uri="{BB962C8B-B14F-4D97-AF65-F5344CB8AC3E}">
        <p14:creationId xmlns:p14="http://schemas.microsoft.com/office/powerpoint/2010/main" val="15646717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15</a:t>
            </a:fld>
            <a:endParaRPr lang="de-CH"/>
          </a:p>
        </p:txBody>
      </p:sp>
    </p:spTree>
    <p:extLst>
      <p:ext uri="{BB962C8B-B14F-4D97-AF65-F5344CB8AC3E}">
        <p14:creationId xmlns:p14="http://schemas.microsoft.com/office/powerpoint/2010/main" val="4027148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16</a:t>
            </a:fld>
            <a:endParaRPr lang="de-CH"/>
          </a:p>
        </p:txBody>
      </p:sp>
    </p:spTree>
    <p:extLst>
      <p:ext uri="{BB962C8B-B14F-4D97-AF65-F5344CB8AC3E}">
        <p14:creationId xmlns:p14="http://schemas.microsoft.com/office/powerpoint/2010/main" val="224214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Titelmasterformat durch Klicken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de-DE" noProof="0"/>
              <a:t>Formatvorlagen des Textmasters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Tree>
    <p:extLst>
      <p:ext uri="{BB962C8B-B14F-4D97-AF65-F5344CB8AC3E}">
        <p14:creationId xmlns:p14="http://schemas.microsoft.com/office/powerpoint/2010/main" val="2221599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web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463911"/>
            <a:ext cx="10728325" cy="696439"/>
          </a:xfrm>
          <a:prstGeom prst="rect">
            <a:avLst/>
          </a:prstGeom>
        </p:spPr>
        <p:txBody>
          <a:bodyPr vert="horz" lIns="0" tIns="0" rIns="0" bIns="0" rtlCol="0" anchor="t" anchorCtr="0">
            <a:noAutofit/>
          </a:bodyPr>
          <a:lstStyle/>
          <a:p>
            <a:r>
              <a:rPr lang="de-CH" noProof="0" dirty="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a:t>
            </a:fld>
            <a:endParaRPr lang="de-CH" noProof="0"/>
          </a:p>
        </p:txBody>
      </p:sp>
      <p:pic>
        <p:nvPicPr>
          <p:cNvPr id="7" name="Google Shape;86;p1" descr="Sairam_logo-removebg-preview.png">
            <a:extLst>
              <a:ext uri="{FF2B5EF4-FFF2-40B4-BE49-F238E27FC236}">
                <a16:creationId xmlns:a16="http://schemas.microsoft.com/office/drawing/2014/main" id="{25162466-838B-2768-2B6C-4F1327AB23E7}"/>
              </a:ext>
            </a:extLst>
          </p:cNvPr>
          <p:cNvPicPr preferRelativeResize="0"/>
          <p:nvPr userDrawn="1"/>
        </p:nvPicPr>
        <p:blipFill rotWithShape="1">
          <a:blip r:embed="rId3">
            <a:alphaModFix/>
          </a:blip>
          <a:srcRect/>
          <a:stretch/>
        </p:blipFill>
        <p:spPr>
          <a:xfrm>
            <a:off x="609600" y="6411745"/>
            <a:ext cx="1070924" cy="365125"/>
          </a:xfrm>
          <a:prstGeom prst="rect">
            <a:avLst/>
          </a:prstGeom>
          <a:noFill/>
          <a:ln>
            <a:noFill/>
          </a:ln>
        </p:spPr>
      </p:pic>
      <p:pic>
        <p:nvPicPr>
          <p:cNvPr id="8" name="Picture 7">
            <a:extLst>
              <a:ext uri="{FF2B5EF4-FFF2-40B4-BE49-F238E27FC236}">
                <a16:creationId xmlns:a16="http://schemas.microsoft.com/office/drawing/2014/main" id="{A95472F4-39AB-05F8-4820-CCE5A8FBA21A}"/>
              </a:ext>
            </a:extLst>
          </p:cNvPr>
          <p:cNvPicPr>
            <a:picLocks noChangeAspect="1"/>
          </p:cNvPicPr>
          <p:nvPr userDrawn="1"/>
        </p:nvPicPr>
        <p:blipFill>
          <a:blip r:embed="rId4"/>
          <a:stretch>
            <a:fillRect/>
          </a:stretch>
        </p:blipFill>
        <p:spPr>
          <a:xfrm>
            <a:off x="1762740" y="6407827"/>
            <a:ext cx="1028122" cy="369043"/>
          </a:xfrm>
          <a:prstGeom prst="rect">
            <a:avLst/>
          </a:prstGeom>
        </p:spPr>
      </p:pic>
      <p:pic>
        <p:nvPicPr>
          <p:cNvPr id="9" name="Picture 8">
            <a:extLst>
              <a:ext uri="{FF2B5EF4-FFF2-40B4-BE49-F238E27FC236}">
                <a16:creationId xmlns:a16="http://schemas.microsoft.com/office/drawing/2014/main" id="{1A68A9FC-1E68-17C5-01FA-855274637456}"/>
              </a:ext>
            </a:extLst>
          </p:cNvPr>
          <p:cNvPicPr>
            <a:picLocks noChangeAspect="1"/>
          </p:cNvPicPr>
          <p:nvPr userDrawn="1"/>
        </p:nvPicPr>
        <p:blipFill>
          <a:blip r:embed="rId5"/>
          <a:stretch>
            <a:fillRect/>
          </a:stretch>
        </p:blipFill>
        <p:spPr>
          <a:xfrm>
            <a:off x="2914359" y="6498296"/>
            <a:ext cx="1127744" cy="188104"/>
          </a:xfrm>
          <a:prstGeom prst="rect">
            <a:avLst/>
          </a:prstGeom>
        </p:spPr>
      </p:pic>
      <p:pic>
        <p:nvPicPr>
          <p:cNvPr id="10" name="Google Shape;87;p1" descr="Chairman-Logo.png">
            <a:extLst>
              <a:ext uri="{FF2B5EF4-FFF2-40B4-BE49-F238E27FC236}">
                <a16:creationId xmlns:a16="http://schemas.microsoft.com/office/drawing/2014/main" id="{50AB439F-D112-8F2E-3BA3-B037DA707209}"/>
              </a:ext>
            </a:extLst>
          </p:cNvPr>
          <p:cNvPicPr preferRelativeResize="0"/>
          <p:nvPr userDrawn="1"/>
        </p:nvPicPr>
        <p:blipFill rotWithShape="1">
          <a:blip r:embed="rId6">
            <a:alphaModFix/>
          </a:blip>
          <a:srcRect/>
          <a:stretch/>
        </p:blipFill>
        <p:spPr>
          <a:xfrm>
            <a:off x="95384" y="6378308"/>
            <a:ext cx="432000" cy="432000"/>
          </a:xfrm>
          <a:prstGeom prst="rect">
            <a:avLst/>
          </a:prstGeom>
          <a:noFill/>
          <a:ln>
            <a:noFill/>
          </a:ln>
        </p:spPr>
      </p:pic>
      <p:pic>
        <p:nvPicPr>
          <p:cNvPr id="11" name="Picture 10">
            <a:extLst>
              <a:ext uri="{FF2B5EF4-FFF2-40B4-BE49-F238E27FC236}">
                <a16:creationId xmlns:a16="http://schemas.microsoft.com/office/drawing/2014/main" id="{42DA1B3D-F7C0-3CA0-D11D-5596503ACF79}"/>
              </a:ext>
            </a:extLst>
          </p:cNvPr>
          <p:cNvPicPr>
            <a:picLocks noChangeAspect="1"/>
          </p:cNvPicPr>
          <p:nvPr userDrawn="1"/>
        </p:nvPicPr>
        <p:blipFill rotWithShape="1">
          <a:blip r:embed="rId7"/>
          <a:srcRect l="4202" t="23370" r="7563" b="24223"/>
          <a:stretch/>
        </p:blipFill>
        <p:spPr>
          <a:xfrm>
            <a:off x="131715" y="103912"/>
            <a:ext cx="1737340" cy="341451"/>
          </a:xfrm>
          <a:prstGeom prst="rect">
            <a:avLst/>
          </a:prstGeom>
        </p:spPr>
      </p:pic>
      <p:pic>
        <p:nvPicPr>
          <p:cNvPr id="12" name="Google Shape;89;p1" descr="INNOVATION_LOGO-removebg-preview.png">
            <a:extLst>
              <a:ext uri="{FF2B5EF4-FFF2-40B4-BE49-F238E27FC236}">
                <a16:creationId xmlns:a16="http://schemas.microsoft.com/office/drawing/2014/main" id="{E05FCD9F-5E8F-9748-C849-6F7F0BAE4D45}"/>
              </a:ext>
            </a:extLst>
          </p:cNvPr>
          <p:cNvPicPr preferRelativeResize="0">
            <a:picLocks noChangeAspect="1"/>
          </p:cNvPicPr>
          <p:nvPr userDrawn="1"/>
        </p:nvPicPr>
        <p:blipFill rotWithShape="1">
          <a:blip r:embed="rId8">
            <a:alphaModFix/>
          </a:blip>
          <a:srcRect/>
          <a:stretch/>
        </p:blipFill>
        <p:spPr>
          <a:xfrm>
            <a:off x="11081275" y="103912"/>
            <a:ext cx="979010" cy="360000"/>
          </a:xfrm>
          <a:prstGeom prst="rect">
            <a:avLst/>
          </a:prstGeom>
          <a:noFill/>
          <a:ln>
            <a:noFill/>
          </a:ln>
        </p:spPr>
      </p:pic>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50" r:id="rId1"/>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un.org/sustainabledevelopment/infrastructure-industrializatio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a:t>
            </a:fld>
            <a:endParaRPr lang="de-CH" noProof="0">
              <a:latin typeface="Corbel" panose="020B0503020204020204" pitchFamily="34" charset="0"/>
            </a:endParaRPr>
          </a:p>
        </p:txBody>
      </p:sp>
      <p:sp>
        <p:nvSpPr>
          <p:cNvPr id="6" name="TextBox 5">
            <a:extLst>
              <a:ext uri="{FF2B5EF4-FFF2-40B4-BE49-F238E27FC236}">
                <a16:creationId xmlns:a16="http://schemas.microsoft.com/office/drawing/2014/main" id="{75137C72-64B4-1745-AF49-9869D2E753CD}"/>
              </a:ext>
            </a:extLst>
          </p:cNvPr>
          <p:cNvSpPr txBox="1"/>
          <p:nvPr/>
        </p:nvSpPr>
        <p:spPr>
          <a:xfrm>
            <a:off x="1069040" y="513184"/>
            <a:ext cx="10229833" cy="1341070"/>
          </a:xfrm>
          <a:prstGeom prst="rect">
            <a:avLst/>
          </a:prstGeom>
          <a:noFill/>
        </p:spPr>
        <p:txBody>
          <a:bodyPr wrap="square" rtlCol="0">
            <a:spAutoFit/>
          </a:bodyPr>
          <a:lstStyle/>
          <a:p>
            <a:pPr algn="ctr"/>
            <a:r>
              <a:rPr lang="en-IN" sz="4000" dirty="0" err="1">
                <a:solidFill>
                  <a:srgbClr val="FF0000"/>
                </a:solidFill>
              </a:rPr>
              <a:t>PulseGuard</a:t>
            </a:r>
            <a:r>
              <a:rPr lang="en-IN" sz="4000" dirty="0">
                <a:solidFill>
                  <a:srgbClr val="FF0000"/>
                </a:solidFill>
              </a:rPr>
              <a:t> Nexus: AI-Accelerated Industrial Motor &amp; Grid Intelligence Platform</a:t>
            </a:r>
            <a:endParaRPr lang="en-CH" sz="4000" dirty="0">
              <a:solidFill>
                <a:srgbClr val="FF0000"/>
              </a:solidFill>
            </a:endParaRPr>
          </a:p>
        </p:txBody>
      </p:sp>
      <p:sp>
        <p:nvSpPr>
          <p:cNvPr id="8" name="TextBox 7">
            <a:extLst>
              <a:ext uri="{FF2B5EF4-FFF2-40B4-BE49-F238E27FC236}">
                <a16:creationId xmlns:a16="http://schemas.microsoft.com/office/drawing/2014/main" id="{9DC23146-16DD-4868-5A6C-BB2D4AC01BDF}"/>
              </a:ext>
            </a:extLst>
          </p:cNvPr>
          <p:cNvSpPr txBox="1"/>
          <p:nvPr/>
        </p:nvSpPr>
        <p:spPr>
          <a:xfrm>
            <a:off x="1737119" y="2328397"/>
            <a:ext cx="8717761" cy="1015663"/>
          </a:xfrm>
          <a:prstGeom prst="rect">
            <a:avLst/>
          </a:prstGeom>
          <a:noFill/>
          <a:ln w="6350">
            <a:solidFill>
              <a:schemeClr val="tx1"/>
            </a:solidFill>
          </a:ln>
        </p:spPr>
        <p:txBody>
          <a:bodyPr wrap="square" rtlCol="0">
            <a:spAutoFit/>
          </a:bodyPr>
          <a:lstStyle/>
          <a:p>
            <a:r>
              <a:rPr lang="en-CH" sz="2000" dirty="0"/>
              <a:t>Team Name: </a:t>
            </a:r>
            <a:r>
              <a:rPr lang="en-IN" sz="2000" dirty="0" err="1">
                <a:solidFill>
                  <a:srgbClr val="FF0000"/>
                </a:solidFill>
              </a:rPr>
              <a:t>ZynXo</a:t>
            </a:r>
            <a:endParaRPr lang="en-CH" sz="2000" dirty="0">
              <a:solidFill>
                <a:srgbClr val="FF0000"/>
              </a:solidFill>
            </a:endParaRPr>
          </a:p>
          <a:p>
            <a:r>
              <a:rPr lang="en-CH" sz="2000" dirty="0"/>
              <a:t>Email of Team Leader: </a:t>
            </a:r>
            <a:r>
              <a:rPr lang="en-IN" sz="2000" dirty="0">
                <a:solidFill>
                  <a:srgbClr val="FF0000"/>
                </a:solidFill>
              </a:rPr>
              <a:t>sec22am013</a:t>
            </a:r>
            <a:r>
              <a:rPr lang="en-CH" sz="2000" dirty="0"/>
              <a:t>@sairamtap.edu.in</a:t>
            </a:r>
          </a:p>
          <a:p>
            <a:r>
              <a:rPr lang="en-CH" sz="2000" dirty="0"/>
              <a:t>UN Grand Challenge: </a:t>
            </a:r>
            <a:r>
              <a:rPr lang="en-US" sz="2000" dirty="0"/>
              <a:t>SDG 9, </a:t>
            </a:r>
            <a:r>
              <a:rPr lang="en-US" dirty="0">
                <a:hlinkClick r:id="rId3"/>
              </a:rPr>
              <a:t>Industry Innovation and Infrastructure</a:t>
            </a:r>
            <a:endParaRPr lang="en-CH" sz="2000" dirty="0">
              <a:solidFill>
                <a:srgbClr val="FF0000"/>
              </a:solidFill>
            </a:endParaRPr>
          </a:p>
        </p:txBody>
      </p:sp>
    </p:spTree>
    <p:extLst>
      <p:ext uri="{BB962C8B-B14F-4D97-AF65-F5344CB8AC3E}">
        <p14:creationId xmlns:p14="http://schemas.microsoft.com/office/powerpoint/2010/main" val="2023556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2</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358515" y="362477"/>
            <a:ext cx="5474970" cy="369332"/>
          </a:xfrm>
          <a:prstGeom prst="rect">
            <a:avLst/>
          </a:prstGeom>
          <a:noFill/>
        </p:spPr>
        <p:txBody>
          <a:bodyPr wrap="square" rtlCol="0">
            <a:spAutoFit/>
          </a:bodyPr>
          <a:lstStyle/>
          <a:p>
            <a:pPr algn="ctr"/>
            <a:r>
              <a:rPr lang="en-CH" dirty="0"/>
              <a:t>Executive Summary</a:t>
            </a:r>
          </a:p>
        </p:txBody>
      </p:sp>
      <p:sp>
        <p:nvSpPr>
          <p:cNvPr id="3" name="TextBox 2">
            <a:extLst>
              <a:ext uri="{FF2B5EF4-FFF2-40B4-BE49-F238E27FC236}">
                <a16:creationId xmlns:a16="http://schemas.microsoft.com/office/drawing/2014/main" id="{3EA688F6-6679-1C60-27D7-A3E28706AC3E}"/>
              </a:ext>
            </a:extLst>
          </p:cNvPr>
          <p:cNvSpPr txBox="1"/>
          <p:nvPr/>
        </p:nvSpPr>
        <p:spPr>
          <a:xfrm>
            <a:off x="661431" y="1062468"/>
            <a:ext cx="5319491" cy="5001369"/>
          </a:xfrm>
          <a:prstGeom prst="rect">
            <a:avLst/>
          </a:prstGeom>
          <a:noFill/>
        </p:spPr>
        <p:txBody>
          <a:bodyPr wrap="square" rtlCol="0">
            <a:spAutoFit/>
          </a:bodyPr>
          <a:lstStyle/>
          <a:p>
            <a:pPr algn="just"/>
            <a:r>
              <a:rPr lang="en-US" sz="1100" dirty="0" err="1">
                <a:solidFill>
                  <a:srgbClr val="FF0000"/>
                </a:solidFill>
              </a:rPr>
              <a:t>PulseGuard</a:t>
            </a:r>
            <a:r>
              <a:rPr lang="en-US" sz="1100" dirty="0">
                <a:solidFill>
                  <a:srgbClr val="FF0000"/>
                </a:solidFill>
              </a:rPr>
              <a:t> Nexus is an AI-accelerated industrial intelligence platform designed to protect MSMEs from hidden motor failures caused by poor power quality. Voltage imbalance, harmonic distortion, and vibration stress silently degrade industrial motors, leading to unplanned downtime, production loss, and high maintenance costs. Most MSMEs lack affordable predictive systems and documented proof to validate grid-induced damage.</a:t>
            </a:r>
          </a:p>
          <a:p>
            <a:pPr algn="just"/>
            <a:endParaRPr lang="en-US" sz="1100" dirty="0">
              <a:solidFill>
                <a:srgbClr val="FF0000"/>
              </a:solidFill>
            </a:endParaRPr>
          </a:p>
          <a:p>
            <a:pPr algn="just"/>
            <a:r>
              <a:rPr lang="en-US" sz="1100" dirty="0">
                <a:solidFill>
                  <a:srgbClr val="FF0000"/>
                </a:solidFill>
              </a:rPr>
              <a:t>Our solution transforms live telemetry into actionable insights through monitoring, quantification, automated threshold detection, and AI-driven diagnostics. </a:t>
            </a:r>
            <a:r>
              <a:rPr lang="en-US" sz="1100" dirty="0" err="1">
                <a:solidFill>
                  <a:srgbClr val="FF0000"/>
                </a:solidFill>
              </a:rPr>
              <a:t>PulseGuard</a:t>
            </a:r>
            <a:r>
              <a:rPr lang="en-US" sz="1100" dirty="0">
                <a:solidFill>
                  <a:srgbClr val="FF0000"/>
                </a:solidFill>
              </a:rPr>
              <a:t> Nexus calculates Motor Health Score, AI Confidence Score, Remaining Useful Life (RUL), and Economic Loss Risk in real time. It also generates professional, verifiable reports with digital integrity authentication—enabling evidence-based maintenance decisions and potential utility claim validation.</a:t>
            </a:r>
          </a:p>
          <a:p>
            <a:pPr algn="just"/>
            <a:endParaRPr lang="en-US" sz="1100" dirty="0">
              <a:solidFill>
                <a:srgbClr val="FF0000"/>
              </a:solidFill>
            </a:endParaRPr>
          </a:p>
          <a:p>
            <a:pPr algn="just"/>
            <a:r>
              <a:rPr lang="en-US" sz="1100" dirty="0">
                <a:solidFill>
                  <a:srgbClr val="FF0000"/>
                </a:solidFill>
              </a:rPr>
              <a:t>We developed a responsive software prototype that simulates industrial motor stress conditions and dynamically visualizes degradation patterns. The system integrates intelligent recommendations, risk classification, and cluster-level grid insights within an offline-first architecture.</a:t>
            </a:r>
          </a:p>
          <a:p>
            <a:pPr algn="just"/>
            <a:endParaRPr lang="en-US" sz="1100" dirty="0">
              <a:solidFill>
                <a:srgbClr val="FF0000"/>
              </a:solidFill>
            </a:endParaRPr>
          </a:p>
          <a:p>
            <a:pPr algn="just"/>
            <a:r>
              <a:rPr lang="en-US" sz="1100" dirty="0">
                <a:solidFill>
                  <a:srgbClr val="FF0000"/>
                </a:solidFill>
              </a:rPr>
              <a:t>Our business model follows a SaaS subscription approach targeting MSME clusters, offering scalable deployment with sensor integration capability. By enabling early intervention, </a:t>
            </a:r>
            <a:r>
              <a:rPr lang="en-US" sz="1100" dirty="0" err="1">
                <a:solidFill>
                  <a:srgbClr val="FF0000"/>
                </a:solidFill>
              </a:rPr>
              <a:t>PulseGuard</a:t>
            </a:r>
            <a:r>
              <a:rPr lang="en-US" sz="1100" dirty="0">
                <a:solidFill>
                  <a:srgbClr val="FF0000"/>
                </a:solidFill>
              </a:rPr>
              <a:t> Nexus has the potential to reduce unplanned downtime by up to 30% and extend motor lifespan through proactive stress mitigation.</a:t>
            </a:r>
          </a:p>
          <a:p>
            <a:pPr algn="just"/>
            <a:endParaRPr lang="en-US" sz="1100" dirty="0">
              <a:solidFill>
                <a:srgbClr val="FF0000"/>
              </a:solidFill>
            </a:endParaRPr>
          </a:p>
          <a:p>
            <a:pPr algn="just"/>
            <a:r>
              <a:rPr lang="en-US" sz="1100" dirty="0">
                <a:solidFill>
                  <a:srgbClr val="FF0000"/>
                </a:solidFill>
              </a:rPr>
              <a:t>The platform is novel in combining AI acceleration, economic risk translation, and secure documentation into a single MSME-focused industrial resilience system aligned with SDG 9.</a:t>
            </a:r>
          </a:p>
        </p:txBody>
      </p:sp>
      <p:pic>
        <p:nvPicPr>
          <p:cNvPr id="4" name="Picture 3">
            <a:extLst>
              <a:ext uri="{FF2B5EF4-FFF2-40B4-BE49-F238E27FC236}">
                <a16:creationId xmlns:a16="http://schemas.microsoft.com/office/drawing/2014/main" id="{1ABFB9F5-D468-5B41-1F39-C4D1C62E28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080" y="1604010"/>
            <a:ext cx="5474970" cy="3649980"/>
          </a:xfrm>
          <a:prstGeom prst="rect">
            <a:avLst/>
          </a:prstGeom>
        </p:spPr>
      </p:pic>
    </p:spTree>
    <p:extLst>
      <p:ext uri="{BB962C8B-B14F-4D97-AF65-F5344CB8AC3E}">
        <p14:creationId xmlns:p14="http://schemas.microsoft.com/office/powerpoint/2010/main" val="2999664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3</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358515" y="295467"/>
            <a:ext cx="5474970" cy="369332"/>
          </a:xfrm>
          <a:prstGeom prst="rect">
            <a:avLst/>
          </a:prstGeom>
          <a:noFill/>
        </p:spPr>
        <p:txBody>
          <a:bodyPr wrap="square" rtlCol="0">
            <a:spAutoFit/>
          </a:bodyPr>
          <a:lstStyle/>
          <a:p>
            <a:pPr algn="ctr"/>
            <a:r>
              <a:rPr lang="en-CH" dirty="0"/>
              <a:t>Goal</a:t>
            </a:r>
          </a:p>
        </p:txBody>
      </p:sp>
      <p:sp>
        <p:nvSpPr>
          <p:cNvPr id="3" name="TextBox 2">
            <a:extLst>
              <a:ext uri="{FF2B5EF4-FFF2-40B4-BE49-F238E27FC236}">
                <a16:creationId xmlns:a16="http://schemas.microsoft.com/office/drawing/2014/main" id="{3EA688F6-6679-1C60-27D7-A3E28706AC3E}"/>
              </a:ext>
            </a:extLst>
          </p:cNvPr>
          <p:cNvSpPr txBox="1"/>
          <p:nvPr/>
        </p:nvSpPr>
        <p:spPr>
          <a:xfrm>
            <a:off x="836097" y="675663"/>
            <a:ext cx="10280345" cy="600164"/>
          </a:xfrm>
          <a:prstGeom prst="rect">
            <a:avLst/>
          </a:prstGeom>
          <a:noFill/>
        </p:spPr>
        <p:txBody>
          <a:bodyPr wrap="square" rtlCol="0">
            <a:spAutoFit/>
          </a:bodyPr>
          <a:lstStyle/>
          <a:p>
            <a:endParaRPr lang="en-US" sz="1100" b="1" dirty="0"/>
          </a:p>
          <a:p>
            <a:pPr algn="ctr"/>
            <a:r>
              <a:rPr lang="en-US" sz="1100" dirty="0">
                <a:solidFill>
                  <a:srgbClr val="FF0000"/>
                </a:solidFill>
              </a:rPr>
              <a:t>The goal of </a:t>
            </a:r>
            <a:r>
              <a:rPr lang="en-US" sz="1100" dirty="0" err="1">
                <a:solidFill>
                  <a:srgbClr val="FF0000"/>
                </a:solidFill>
              </a:rPr>
              <a:t>PulseGuard</a:t>
            </a:r>
            <a:r>
              <a:rPr lang="en-US" sz="1100" dirty="0">
                <a:solidFill>
                  <a:srgbClr val="FF0000"/>
                </a:solidFill>
              </a:rPr>
              <a:t> Nexus is to enable MSME industrial units to detect motor degradation early, prevent avoidable downtime, and create verifiable documentation of power-quality–induced damage.</a:t>
            </a:r>
          </a:p>
        </p:txBody>
      </p:sp>
      <p:sp>
        <p:nvSpPr>
          <p:cNvPr id="2" name="Rectangle 1">
            <a:extLst>
              <a:ext uri="{FF2B5EF4-FFF2-40B4-BE49-F238E27FC236}">
                <a16:creationId xmlns:a16="http://schemas.microsoft.com/office/drawing/2014/main" id="{C221F2C9-7A97-7789-033A-B4F589D170C0}"/>
              </a:ext>
            </a:extLst>
          </p:cNvPr>
          <p:cNvSpPr/>
          <p:nvPr/>
        </p:nvSpPr>
        <p:spPr>
          <a:xfrm>
            <a:off x="602277" y="1620626"/>
            <a:ext cx="3970175" cy="164067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100" b="1" dirty="0">
                <a:solidFill>
                  <a:srgbClr val="FF0000"/>
                </a:solidFill>
              </a:rPr>
              <a:t>Target Users</a:t>
            </a:r>
          </a:p>
          <a:p>
            <a:r>
              <a:rPr lang="en-US" sz="1100" dirty="0">
                <a:solidFill>
                  <a:srgbClr val="FF0000"/>
                </a:solidFill>
              </a:rPr>
              <a:t>MSME factory owners operating motor-driven production lines</a:t>
            </a:r>
          </a:p>
          <a:p>
            <a:r>
              <a:rPr lang="en-US" sz="1100" dirty="0">
                <a:solidFill>
                  <a:srgbClr val="FF0000"/>
                </a:solidFill>
              </a:rPr>
              <a:t>Maintenance engineers responsible for uptime</a:t>
            </a:r>
          </a:p>
          <a:p>
            <a:r>
              <a:rPr lang="en-US" sz="1100" dirty="0">
                <a:solidFill>
                  <a:srgbClr val="FF0000"/>
                </a:solidFill>
              </a:rPr>
              <a:t>Industrial cluster associations managing shared infrastructure</a:t>
            </a:r>
          </a:p>
          <a:p>
            <a:r>
              <a:rPr lang="en-US" sz="1100" dirty="0">
                <a:solidFill>
                  <a:srgbClr val="FF0000"/>
                </a:solidFill>
              </a:rPr>
              <a:t>Insurance, compliance, and audit authorities reviewing failure claims</a:t>
            </a:r>
          </a:p>
        </p:txBody>
      </p:sp>
      <p:sp>
        <p:nvSpPr>
          <p:cNvPr id="4" name="Rectangle 3">
            <a:extLst>
              <a:ext uri="{FF2B5EF4-FFF2-40B4-BE49-F238E27FC236}">
                <a16:creationId xmlns:a16="http://schemas.microsoft.com/office/drawing/2014/main" id="{1DF7BE93-F29D-01FD-59FC-D62745DF59B6}"/>
              </a:ext>
            </a:extLst>
          </p:cNvPr>
          <p:cNvSpPr/>
          <p:nvPr/>
        </p:nvSpPr>
        <p:spPr>
          <a:xfrm>
            <a:off x="5375783" y="1507842"/>
            <a:ext cx="5361234" cy="20107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100" b="1" dirty="0">
                <a:solidFill>
                  <a:srgbClr val="FF0000"/>
                </a:solidFill>
              </a:rPr>
              <a:t>Problem Context</a:t>
            </a:r>
          </a:p>
          <a:p>
            <a:r>
              <a:rPr lang="en-US" sz="1100" dirty="0">
                <a:solidFill>
                  <a:srgbClr val="FF0000"/>
                </a:solidFill>
              </a:rPr>
              <a:t>In many Tier-2 and Tier-3 industrial regions, grid instability—such as voltage imbalance and harmonic distortion—silently increases thermal stress in motors. This accelerates lubricant thinning and bearing wear, ultimately leading to mechanical failure.</a:t>
            </a:r>
          </a:p>
          <a:p>
            <a:r>
              <a:rPr lang="en-US" sz="1100" dirty="0">
                <a:solidFill>
                  <a:srgbClr val="FF0000"/>
                </a:solidFill>
              </a:rPr>
              <a:t>Most MSMEs identify issues only after breakdown occurs. By then:</a:t>
            </a:r>
          </a:p>
          <a:p>
            <a:r>
              <a:rPr lang="en-US" sz="1100" dirty="0">
                <a:solidFill>
                  <a:srgbClr val="FF0000"/>
                </a:solidFill>
              </a:rPr>
              <a:t>Production halts unexpectedly</a:t>
            </a:r>
          </a:p>
          <a:p>
            <a:r>
              <a:rPr lang="en-US" sz="1100" dirty="0">
                <a:solidFill>
                  <a:srgbClr val="FF0000"/>
                </a:solidFill>
              </a:rPr>
              <a:t>Emergency repairs increase costs</a:t>
            </a:r>
          </a:p>
          <a:p>
            <a:r>
              <a:rPr lang="en-US" sz="1100" dirty="0">
                <a:solidFill>
                  <a:srgbClr val="FF0000"/>
                </a:solidFill>
              </a:rPr>
              <a:t>Delivery timelines are affected</a:t>
            </a:r>
          </a:p>
          <a:p>
            <a:r>
              <a:rPr lang="en-US" sz="1100" dirty="0">
                <a:solidFill>
                  <a:srgbClr val="FF0000"/>
                </a:solidFill>
              </a:rPr>
              <a:t>There is no documented proof linking failure to grid conditions</a:t>
            </a:r>
          </a:p>
        </p:txBody>
      </p:sp>
      <p:sp>
        <p:nvSpPr>
          <p:cNvPr id="7" name="Rectangle 6">
            <a:extLst>
              <a:ext uri="{FF2B5EF4-FFF2-40B4-BE49-F238E27FC236}">
                <a16:creationId xmlns:a16="http://schemas.microsoft.com/office/drawing/2014/main" id="{F3D7AB13-BC79-1B44-31B6-C342EF3111D3}"/>
              </a:ext>
            </a:extLst>
          </p:cNvPr>
          <p:cNvSpPr/>
          <p:nvPr/>
        </p:nvSpPr>
        <p:spPr>
          <a:xfrm>
            <a:off x="6640175" y="3831407"/>
            <a:ext cx="4386619" cy="102170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100" b="1" dirty="0">
                <a:solidFill>
                  <a:srgbClr val="FF0000"/>
                </a:solidFill>
              </a:rPr>
              <a:t>Why Achieving This Goal Matters</a:t>
            </a:r>
          </a:p>
          <a:p>
            <a:r>
              <a:rPr lang="en-US" sz="1100" dirty="0">
                <a:solidFill>
                  <a:srgbClr val="FF0000"/>
                </a:solidFill>
              </a:rPr>
              <a:t>Downtime directly reduces production capacity and revenue.</a:t>
            </a:r>
          </a:p>
          <a:p>
            <a:r>
              <a:rPr lang="en-US" sz="1100" dirty="0">
                <a:solidFill>
                  <a:srgbClr val="FF0000"/>
                </a:solidFill>
              </a:rPr>
              <a:t>Premature motor replacement increases capital expenditure.</a:t>
            </a:r>
          </a:p>
          <a:p>
            <a:r>
              <a:rPr lang="en-US" sz="1100" dirty="0">
                <a:solidFill>
                  <a:srgbClr val="FF0000"/>
                </a:solidFill>
              </a:rPr>
              <a:t>Unstable grid conditions remain undocumented and unchallenged.</a:t>
            </a:r>
          </a:p>
          <a:p>
            <a:r>
              <a:rPr lang="en-US" sz="1100" dirty="0">
                <a:solidFill>
                  <a:srgbClr val="FF0000"/>
                </a:solidFill>
              </a:rPr>
              <a:t>MSMEs lack affordable predictive intelligence tools.</a:t>
            </a:r>
          </a:p>
        </p:txBody>
      </p:sp>
      <p:sp>
        <p:nvSpPr>
          <p:cNvPr id="8" name="Rectangle 7">
            <a:extLst>
              <a:ext uri="{FF2B5EF4-FFF2-40B4-BE49-F238E27FC236}">
                <a16:creationId xmlns:a16="http://schemas.microsoft.com/office/drawing/2014/main" id="{91FD9563-5068-FEB2-6FE7-00203399BFCE}"/>
              </a:ext>
            </a:extLst>
          </p:cNvPr>
          <p:cNvSpPr/>
          <p:nvPr/>
        </p:nvSpPr>
        <p:spPr>
          <a:xfrm>
            <a:off x="1036076" y="3799287"/>
            <a:ext cx="4644877" cy="10217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100" b="1" dirty="0">
                <a:solidFill>
                  <a:srgbClr val="FF0000"/>
                </a:solidFill>
              </a:rPr>
              <a:t>Constraints</a:t>
            </a:r>
          </a:p>
          <a:p>
            <a:r>
              <a:rPr lang="en-US" sz="1100" dirty="0">
                <a:solidFill>
                  <a:srgbClr val="FF0000"/>
                </a:solidFill>
              </a:rPr>
              <a:t>Limited digital infrastructure and connectivity.</a:t>
            </a:r>
          </a:p>
          <a:p>
            <a:r>
              <a:rPr lang="en-US" sz="1100" dirty="0">
                <a:solidFill>
                  <a:srgbClr val="FF0000"/>
                </a:solidFill>
              </a:rPr>
              <a:t>Budget-sensitive user base.</a:t>
            </a:r>
          </a:p>
          <a:p>
            <a:r>
              <a:rPr lang="en-US" sz="1100" dirty="0">
                <a:solidFill>
                  <a:srgbClr val="FF0000"/>
                </a:solidFill>
              </a:rPr>
              <a:t>Need for offline-first operation.</a:t>
            </a:r>
          </a:p>
          <a:p>
            <a:r>
              <a:rPr lang="en-US" sz="1100" dirty="0">
                <a:solidFill>
                  <a:srgbClr val="FF0000"/>
                </a:solidFill>
              </a:rPr>
              <a:t>Requirement for simple, intuitive user interface.</a:t>
            </a:r>
          </a:p>
        </p:txBody>
      </p:sp>
      <p:sp>
        <p:nvSpPr>
          <p:cNvPr id="10" name="Rectangle 9">
            <a:extLst>
              <a:ext uri="{FF2B5EF4-FFF2-40B4-BE49-F238E27FC236}">
                <a16:creationId xmlns:a16="http://schemas.microsoft.com/office/drawing/2014/main" id="{56F26569-7732-6C2E-2EA9-87223F2F5645}"/>
              </a:ext>
            </a:extLst>
          </p:cNvPr>
          <p:cNvSpPr/>
          <p:nvPr/>
        </p:nvSpPr>
        <p:spPr>
          <a:xfrm>
            <a:off x="4270956" y="5013247"/>
            <a:ext cx="7578719" cy="17251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100" b="1" dirty="0">
                <a:solidFill>
                  <a:srgbClr val="FF0000"/>
                </a:solidFill>
              </a:rPr>
              <a:t>Success Criteria</a:t>
            </a:r>
          </a:p>
          <a:p>
            <a:r>
              <a:rPr lang="en-US" sz="1100" dirty="0">
                <a:solidFill>
                  <a:srgbClr val="FF0000"/>
                </a:solidFill>
              </a:rPr>
              <a:t>Continuous monitoring of motor stress parameters.</a:t>
            </a:r>
          </a:p>
          <a:p>
            <a:r>
              <a:rPr lang="en-US" sz="1100" dirty="0">
                <a:solidFill>
                  <a:srgbClr val="FF0000"/>
                </a:solidFill>
              </a:rPr>
              <a:t>Automated detection of abnormal electrical conditions.</a:t>
            </a:r>
          </a:p>
          <a:p>
            <a:r>
              <a:rPr lang="en-US" sz="1100" dirty="0">
                <a:solidFill>
                  <a:srgbClr val="FF0000"/>
                </a:solidFill>
              </a:rPr>
              <a:t>AI-generated diagnostic insights and confidence scoring.</a:t>
            </a:r>
          </a:p>
          <a:p>
            <a:r>
              <a:rPr lang="en-US" sz="1100" dirty="0">
                <a:solidFill>
                  <a:srgbClr val="FF0000"/>
                </a:solidFill>
              </a:rPr>
              <a:t>Translation of degradation into economic risk estimates.</a:t>
            </a:r>
          </a:p>
          <a:p>
            <a:r>
              <a:rPr lang="en-US" sz="1100" dirty="0">
                <a:solidFill>
                  <a:srgbClr val="FF0000"/>
                </a:solidFill>
              </a:rPr>
              <a:t>Generation of secure, professional documentation.</a:t>
            </a:r>
          </a:p>
          <a:p>
            <a:r>
              <a:rPr lang="en-US" sz="1100" dirty="0">
                <a:solidFill>
                  <a:srgbClr val="FF0000"/>
                </a:solidFill>
              </a:rPr>
              <a:t>Scalable integration with real industrial sensors.</a:t>
            </a:r>
          </a:p>
          <a:p>
            <a:r>
              <a:rPr lang="en-US" sz="1100" dirty="0" err="1">
                <a:solidFill>
                  <a:srgbClr val="FF0000"/>
                </a:solidFill>
              </a:rPr>
              <a:t>PulseGuard</a:t>
            </a:r>
            <a:r>
              <a:rPr lang="en-US" sz="1100" dirty="0">
                <a:solidFill>
                  <a:srgbClr val="FF0000"/>
                </a:solidFill>
              </a:rPr>
              <a:t> Nexus aims to shift MSMEs from reactive maintenance to predictive, data-driven operational control.</a:t>
            </a:r>
          </a:p>
        </p:txBody>
      </p:sp>
      <p:sp>
        <p:nvSpPr>
          <p:cNvPr id="18" name="Arrow: Curved Left 17">
            <a:extLst>
              <a:ext uri="{FF2B5EF4-FFF2-40B4-BE49-F238E27FC236}">
                <a16:creationId xmlns:a16="http://schemas.microsoft.com/office/drawing/2014/main" id="{0CFD3BDE-9A2D-9C62-AE54-9F8BB9FE3E0A}"/>
              </a:ext>
            </a:extLst>
          </p:cNvPr>
          <p:cNvSpPr/>
          <p:nvPr/>
        </p:nvSpPr>
        <p:spPr>
          <a:xfrm rot="20846259">
            <a:off x="10994538" y="3086669"/>
            <a:ext cx="645669" cy="84717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Right 18">
            <a:extLst>
              <a:ext uri="{FF2B5EF4-FFF2-40B4-BE49-F238E27FC236}">
                <a16:creationId xmlns:a16="http://schemas.microsoft.com/office/drawing/2014/main" id="{4E3BF39C-A53B-9959-7C40-1C00F90BA781}"/>
              </a:ext>
            </a:extLst>
          </p:cNvPr>
          <p:cNvSpPr/>
          <p:nvPr/>
        </p:nvSpPr>
        <p:spPr>
          <a:xfrm>
            <a:off x="4629111" y="2316695"/>
            <a:ext cx="690013" cy="4051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rgbClr val="FF0000"/>
              </a:solidFill>
            </a:endParaRPr>
          </a:p>
        </p:txBody>
      </p:sp>
      <p:sp>
        <p:nvSpPr>
          <p:cNvPr id="20" name="Arrow: Left 19">
            <a:extLst>
              <a:ext uri="{FF2B5EF4-FFF2-40B4-BE49-F238E27FC236}">
                <a16:creationId xmlns:a16="http://schemas.microsoft.com/office/drawing/2014/main" id="{983DE0C4-BC14-0960-1559-9C5683C12E64}"/>
              </a:ext>
            </a:extLst>
          </p:cNvPr>
          <p:cNvSpPr/>
          <p:nvPr/>
        </p:nvSpPr>
        <p:spPr>
          <a:xfrm>
            <a:off x="5785175" y="4114687"/>
            <a:ext cx="762433" cy="45514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Curved Right 20">
            <a:extLst>
              <a:ext uri="{FF2B5EF4-FFF2-40B4-BE49-F238E27FC236}">
                <a16:creationId xmlns:a16="http://schemas.microsoft.com/office/drawing/2014/main" id="{EFB2CA3F-9A52-9C2C-0A42-000969D30DD9}"/>
              </a:ext>
            </a:extLst>
          </p:cNvPr>
          <p:cNvSpPr/>
          <p:nvPr/>
        </p:nvSpPr>
        <p:spPr>
          <a:xfrm rot="19871667">
            <a:off x="3303674" y="4998943"/>
            <a:ext cx="639498" cy="1097210"/>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74941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4</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358515" y="325986"/>
            <a:ext cx="5474970" cy="369332"/>
          </a:xfrm>
          <a:prstGeom prst="rect">
            <a:avLst/>
          </a:prstGeom>
          <a:noFill/>
        </p:spPr>
        <p:txBody>
          <a:bodyPr wrap="square" rtlCol="0">
            <a:spAutoFit/>
          </a:bodyPr>
          <a:lstStyle/>
          <a:p>
            <a:pPr algn="ctr"/>
            <a:r>
              <a:rPr lang="en-CH" dirty="0"/>
              <a:t>Idea</a:t>
            </a:r>
          </a:p>
        </p:txBody>
      </p:sp>
      <p:sp>
        <p:nvSpPr>
          <p:cNvPr id="3" name="TextBox 2">
            <a:extLst>
              <a:ext uri="{FF2B5EF4-FFF2-40B4-BE49-F238E27FC236}">
                <a16:creationId xmlns:a16="http://schemas.microsoft.com/office/drawing/2014/main" id="{3EA688F6-6679-1C60-27D7-A3E28706AC3E}"/>
              </a:ext>
            </a:extLst>
          </p:cNvPr>
          <p:cNvSpPr txBox="1"/>
          <p:nvPr/>
        </p:nvSpPr>
        <p:spPr>
          <a:xfrm>
            <a:off x="521970" y="843677"/>
            <a:ext cx="11148060" cy="5170646"/>
          </a:xfrm>
          <a:prstGeom prst="rect">
            <a:avLst/>
          </a:prstGeom>
          <a:noFill/>
        </p:spPr>
        <p:txBody>
          <a:bodyPr wrap="square" rtlCol="0">
            <a:spAutoFit/>
          </a:bodyPr>
          <a:lstStyle/>
          <a:p>
            <a:r>
              <a:rPr lang="en-US" sz="1100" b="1" dirty="0">
                <a:solidFill>
                  <a:srgbClr val="FF0000"/>
                </a:solidFill>
              </a:rPr>
              <a:t>Idea</a:t>
            </a:r>
          </a:p>
          <a:p>
            <a:r>
              <a:rPr lang="en-US" sz="1100" dirty="0" err="1">
                <a:solidFill>
                  <a:srgbClr val="FF0000"/>
                </a:solidFill>
              </a:rPr>
              <a:t>PulseGuard</a:t>
            </a:r>
            <a:r>
              <a:rPr lang="en-US" sz="1100" dirty="0">
                <a:solidFill>
                  <a:srgbClr val="FF0000"/>
                </a:solidFill>
              </a:rPr>
              <a:t> Nexus is an AI-accelerated industrial intelligence platform that converts early electrical stress signals into operational, financial, and verifiable insights for MSMEs.</a:t>
            </a:r>
          </a:p>
          <a:p>
            <a:endParaRPr lang="en-US" sz="1100" dirty="0">
              <a:solidFill>
                <a:srgbClr val="FF0000"/>
              </a:solidFill>
            </a:endParaRPr>
          </a:p>
          <a:p>
            <a:r>
              <a:rPr lang="en-US" sz="1100" b="1" dirty="0">
                <a:solidFill>
                  <a:srgbClr val="FF0000"/>
                </a:solidFill>
              </a:rPr>
              <a:t>Core Concept</a:t>
            </a:r>
          </a:p>
          <a:p>
            <a:r>
              <a:rPr lang="en-US" sz="1100" dirty="0">
                <a:solidFill>
                  <a:srgbClr val="FF0000"/>
                </a:solidFill>
              </a:rPr>
              <a:t>Industrial motors fail gradually, not suddenly. Electrical abnormalities such as voltage imbalance and harmonic distortion increase thermal stress long before mechanical damage becomes visible. Traditional systems focus on vibration after degradation begins. </a:t>
            </a:r>
            <a:r>
              <a:rPr lang="en-US" sz="1100" dirty="0" err="1">
                <a:solidFill>
                  <a:srgbClr val="FF0000"/>
                </a:solidFill>
              </a:rPr>
              <a:t>PulseGuard</a:t>
            </a:r>
            <a:r>
              <a:rPr lang="en-US" sz="1100" dirty="0">
                <a:solidFill>
                  <a:srgbClr val="FF0000"/>
                </a:solidFill>
              </a:rPr>
              <a:t> Nexus instead detects electrical stress early and translates it into clear, actionable insights—preventing failure rather than reacting to it.</a:t>
            </a:r>
          </a:p>
          <a:p>
            <a:endParaRPr lang="en-US" sz="1100" dirty="0">
              <a:solidFill>
                <a:srgbClr val="FF0000"/>
              </a:solidFill>
            </a:endParaRPr>
          </a:p>
          <a:p>
            <a:r>
              <a:rPr lang="en-US" sz="1100" dirty="0">
                <a:solidFill>
                  <a:srgbClr val="FF0000"/>
                </a:solidFill>
              </a:rPr>
              <a:t>The system achieves this through five integrated layers:</a:t>
            </a:r>
          </a:p>
          <a:p>
            <a:endParaRPr lang="en-US" sz="1100" dirty="0">
              <a:solidFill>
                <a:srgbClr val="FF0000"/>
              </a:solidFill>
            </a:endParaRPr>
          </a:p>
          <a:p>
            <a:r>
              <a:rPr lang="en-US" sz="1100" b="1" dirty="0">
                <a:solidFill>
                  <a:srgbClr val="FF0000"/>
                </a:solidFill>
              </a:rPr>
              <a:t>Monitoring</a:t>
            </a:r>
            <a:r>
              <a:rPr lang="en-US" sz="1100" dirty="0">
                <a:solidFill>
                  <a:srgbClr val="FF0000"/>
                </a:solidFill>
              </a:rPr>
              <a:t> – Live telemetry simulation continuously tracks voltage imbalance, harmonics, and vibration indicators.</a:t>
            </a:r>
          </a:p>
          <a:p>
            <a:r>
              <a:rPr lang="en-US" sz="1100" b="1" dirty="0">
                <a:solidFill>
                  <a:srgbClr val="FF0000"/>
                </a:solidFill>
              </a:rPr>
              <a:t>Quantification</a:t>
            </a:r>
            <a:r>
              <a:rPr lang="en-US" sz="1100" dirty="0">
                <a:solidFill>
                  <a:srgbClr val="FF0000"/>
                </a:solidFill>
              </a:rPr>
              <a:t> – Stress is mathematically modeled into measurable Health Scores and degradation trends.</a:t>
            </a:r>
          </a:p>
          <a:p>
            <a:r>
              <a:rPr lang="en-US" sz="1100" b="1" dirty="0">
                <a:solidFill>
                  <a:srgbClr val="FF0000"/>
                </a:solidFill>
              </a:rPr>
              <a:t>Detection</a:t>
            </a:r>
            <a:r>
              <a:rPr lang="en-US" sz="1100" dirty="0">
                <a:solidFill>
                  <a:srgbClr val="FF0000"/>
                </a:solidFill>
              </a:rPr>
              <a:t> – Automated threshold monitoring identifies abnormal patterns instantly.</a:t>
            </a:r>
          </a:p>
          <a:p>
            <a:r>
              <a:rPr lang="en-US" sz="1100" b="1" dirty="0">
                <a:solidFill>
                  <a:srgbClr val="FF0000"/>
                </a:solidFill>
              </a:rPr>
              <a:t>Visualization</a:t>
            </a:r>
            <a:r>
              <a:rPr lang="en-US" sz="1100" dirty="0">
                <a:solidFill>
                  <a:srgbClr val="FF0000"/>
                </a:solidFill>
              </a:rPr>
              <a:t> – Dynamic charting and focus-mode dashboards provide real-time clarity.</a:t>
            </a:r>
          </a:p>
          <a:p>
            <a:r>
              <a:rPr lang="en-US" sz="1100" b="1" dirty="0">
                <a:solidFill>
                  <a:srgbClr val="FF0000"/>
                </a:solidFill>
              </a:rPr>
              <a:t>Documentation &amp; Verification</a:t>
            </a:r>
            <a:r>
              <a:rPr lang="en-US" sz="1100" dirty="0">
                <a:solidFill>
                  <a:srgbClr val="FF0000"/>
                </a:solidFill>
              </a:rPr>
              <a:t> – Professional reports are generated with digital integrity hashes and claim validation authentication for secure evidence.</a:t>
            </a:r>
          </a:p>
          <a:p>
            <a:endParaRPr lang="en-US" sz="1100" b="1" dirty="0">
              <a:solidFill>
                <a:srgbClr val="FF0000"/>
              </a:solidFill>
            </a:endParaRPr>
          </a:p>
          <a:p>
            <a:r>
              <a:rPr lang="en-US" sz="1100" b="1" dirty="0">
                <a:solidFill>
                  <a:srgbClr val="FF0000"/>
                </a:solidFill>
              </a:rPr>
              <a:t>Intelligence Layer</a:t>
            </a:r>
          </a:p>
          <a:p>
            <a:pPr marL="171450" indent="-171450">
              <a:buFont typeface="Arial" panose="020B0604020202020204" pitchFamily="34" charset="0"/>
              <a:buChar char="•"/>
            </a:pPr>
            <a:r>
              <a:rPr lang="en-US" sz="1100" dirty="0">
                <a:solidFill>
                  <a:srgbClr val="FF0000"/>
                </a:solidFill>
              </a:rPr>
              <a:t>AI Confidence Score estimates prediction reliability.</a:t>
            </a:r>
          </a:p>
          <a:p>
            <a:pPr marL="171450" indent="-171450">
              <a:buFont typeface="Arial" panose="020B0604020202020204" pitchFamily="34" charset="0"/>
              <a:buChar char="•"/>
            </a:pPr>
            <a:r>
              <a:rPr lang="en-US" sz="1100" dirty="0">
                <a:solidFill>
                  <a:srgbClr val="FF0000"/>
                </a:solidFill>
              </a:rPr>
              <a:t>Risk Level Classification categorizes severity.</a:t>
            </a:r>
          </a:p>
          <a:p>
            <a:pPr marL="171450" indent="-171450">
              <a:buFont typeface="Arial" panose="020B0604020202020204" pitchFamily="34" charset="0"/>
              <a:buChar char="•"/>
            </a:pPr>
            <a:r>
              <a:rPr lang="en-US" sz="1100" dirty="0">
                <a:solidFill>
                  <a:srgbClr val="FF0000"/>
                </a:solidFill>
              </a:rPr>
              <a:t>Remaining Useful Life (RUL) forecasts operational longevity.</a:t>
            </a:r>
          </a:p>
          <a:p>
            <a:pPr marL="171450" indent="-171450">
              <a:buFont typeface="Arial" panose="020B0604020202020204" pitchFamily="34" charset="0"/>
              <a:buChar char="•"/>
            </a:pPr>
            <a:r>
              <a:rPr lang="en-US" sz="1100" dirty="0">
                <a:solidFill>
                  <a:srgbClr val="FF0000"/>
                </a:solidFill>
              </a:rPr>
              <a:t>Economic Loss Translation converts technical degradation into financial impact.</a:t>
            </a:r>
          </a:p>
          <a:p>
            <a:pPr marL="171450" indent="-171450">
              <a:buFont typeface="Arial" panose="020B0604020202020204" pitchFamily="34" charset="0"/>
              <a:buChar char="•"/>
            </a:pPr>
            <a:r>
              <a:rPr lang="en-US" sz="1100" dirty="0">
                <a:solidFill>
                  <a:srgbClr val="FF0000"/>
                </a:solidFill>
              </a:rPr>
              <a:t>Interactive alerts enable rapid triage and intervention.</a:t>
            </a:r>
          </a:p>
          <a:p>
            <a:endParaRPr lang="en-US" sz="1100" dirty="0">
              <a:solidFill>
                <a:srgbClr val="FF0000"/>
              </a:solidFill>
            </a:endParaRPr>
          </a:p>
          <a:p>
            <a:r>
              <a:rPr lang="en-US" sz="1100" b="1" dirty="0">
                <a:solidFill>
                  <a:srgbClr val="FF0000"/>
                </a:solidFill>
              </a:rPr>
              <a:t>Feasibility</a:t>
            </a:r>
          </a:p>
          <a:p>
            <a:r>
              <a:rPr lang="en-US" sz="1100" dirty="0">
                <a:solidFill>
                  <a:srgbClr val="FF0000"/>
                </a:solidFill>
              </a:rPr>
              <a:t>The prototype demonstrates a responsive, offline-first software architecture capable of integrating with real ESA and vibration sensors. Lightweight deployment ensures suitability for cost-sensitive MSMEs.</a:t>
            </a:r>
          </a:p>
          <a:p>
            <a:endParaRPr lang="en-US" sz="1100" dirty="0">
              <a:solidFill>
                <a:srgbClr val="FF0000"/>
              </a:solidFill>
            </a:endParaRPr>
          </a:p>
          <a:p>
            <a:r>
              <a:rPr lang="en-US" sz="1100" b="1" dirty="0">
                <a:solidFill>
                  <a:srgbClr val="FF0000"/>
                </a:solidFill>
              </a:rPr>
              <a:t>Unique Value Proposition</a:t>
            </a:r>
          </a:p>
          <a:p>
            <a:r>
              <a:rPr lang="en-US" sz="1100" dirty="0">
                <a:solidFill>
                  <a:srgbClr val="FF0000"/>
                </a:solidFill>
              </a:rPr>
              <a:t>Unlike traditional predictive maintenance dashboards, </a:t>
            </a:r>
            <a:r>
              <a:rPr lang="en-US" sz="1100" dirty="0" err="1">
                <a:solidFill>
                  <a:srgbClr val="FF0000"/>
                </a:solidFill>
              </a:rPr>
              <a:t>PulseGuard</a:t>
            </a:r>
            <a:r>
              <a:rPr lang="en-US" sz="1100" dirty="0">
                <a:solidFill>
                  <a:srgbClr val="FF0000"/>
                </a:solidFill>
              </a:rPr>
              <a:t> Nexus combines AI acceleration, economic modeling, and secure documentation into a single MSME-focused platform. It not only predicts failure—it creates actionable, verifiable industrial intelligence.</a:t>
            </a:r>
          </a:p>
        </p:txBody>
      </p:sp>
    </p:spTree>
    <p:extLst>
      <p:ext uri="{BB962C8B-B14F-4D97-AF65-F5344CB8AC3E}">
        <p14:creationId xmlns:p14="http://schemas.microsoft.com/office/powerpoint/2010/main" val="3316001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5</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423829" y="438189"/>
            <a:ext cx="5474970" cy="369332"/>
          </a:xfrm>
          <a:prstGeom prst="rect">
            <a:avLst/>
          </a:prstGeom>
          <a:noFill/>
        </p:spPr>
        <p:txBody>
          <a:bodyPr wrap="square" rtlCol="0">
            <a:spAutoFit/>
          </a:bodyPr>
          <a:lstStyle/>
          <a:p>
            <a:pPr algn="ctr"/>
            <a:r>
              <a:rPr lang="en-CH" dirty="0"/>
              <a:t>Prototype or Proof-of-Concept (1/2)</a:t>
            </a:r>
          </a:p>
        </p:txBody>
      </p:sp>
      <p:pic>
        <p:nvPicPr>
          <p:cNvPr id="4" name="Picture 3">
            <a:extLst>
              <a:ext uri="{FF2B5EF4-FFF2-40B4-BE49-F238E27FC236}">
                <a16:creationId xmlns:a16="http://schemas.microsoft.com/office/drawing/2014/main" id="{5BDDAFCC-A96D-4F28-FC35-FEADCB202A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971" y="1442704"/>
            <a:ext cx="5571710" cy="3170263"/>
          </a:xfrm>
          <a:prstGeom prst="rect">
            <a:avLst/>
          </a:prstGeom>
        </p:spPr>
      </p:pic>
      <p:pic>
        <p:nvPicPr>
          <p:cNvPr id="10" name="Picture 9">
            <a:extLst>
              <a:ext uri="{FF2B5EF4-FFF2-40B4-BE49-F238E27FC236}">
                <a16:creationId xmlns:a16="http://schemas.microsoft.com/office/drawing/2014/main" id="{1999A569-B118-CE2B-B627-A59984C2FD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7676" y="1441919"/>
            <a:ext cx="5643688" cy="3171048"/>
          </a:xfrm>
          <a:prstGeom prst="rect">
            <a:avLst/>
          </a:prstGeom>
        </p:spPr>
      </p:pic>
      <p:sp>
        <p:nvSpPr>
          <p:cNvPr id="18" name="TextBox 17">
            <a:extLst>
              <a:ext uri="{FF2B5EF4-FFF2-40B4-BE49-F238E27FC236}">
                <a16:creationId xmlns:a16="http://schemas.microsoft.com/office/drawing/2014/main" id="{AF27EE11-4D60-81B7-6343-D0DB598DB73E}"/>
              </a:ext>
            </a:extLst>
          </p:cNvPr>
          <p:cNvSpPr txBox="1"/>
          <p:nvPr/>
        </p:nvSpPr>
        <p:spPr>
          <a:xfrm>
            <a:off x="2443237" y="4967541"/>
            <a:ext cx="7648878" cy="600164"/>
          </a:xfrm>
          <a:prstGeom prst="rect">
            <a:avLst/>
          </a:prstGeom>
          <a:noFill/>
        </p:spPr>
        <p:txBody>
          <a:bodyPr wrap="square">
            <a:spAutoFit/>
          </a:bodyPr>
          <a:lstStyle/>
          <a:p>
            <a:pPr algn="ctr">
              <a:buNone/>
            </a:pPr>
            <a:r>
              <a:rPr lang="en-US" sz="1100" dirty="0">
                <a:solidFill>
                  <a:srgbClr val="FF0000"/>
                </a:solidFill>
              </a:rPr>
              <a:t>The prototype demonstrates a real-time industrial monitoring dashboard that tracks motor health, THD%, temperature, and vibration trends. The system automatically detects anomalies, generates alerts, and provides AI-assisted diagnostic insights. This enables early failure prediction and smarter maintenance decisions.</a:t>
            </a:r>
            <a:endParaRPr lang="en-IN" sz="1100" dirty="0">
              <a:solidFill>
                <a:srgbClr val="FF0000"/>
              </a:solidFill>
            </a:endParaRPr>
          </a:p>
        </p:txBody>
      </p:sp>
      <p:sp>
        <p:nvSpPr>
          <p:cNvPr id="20" name="TextBox 19">
            <a:extLst>
              <a:ext uri="{FF2B5EF4-FFF2-40B4-BE49-F238E27FC236}">
                <a16:creationId xmlns:a16="http://schemas.microsoft.com/office/drawing/2014/main" id="{FD51B73E-9968-6ED4-8736-9421D53A48D4}"/>
              </a:ext>
            </a:extLst>
          </p:cNvPr>
          <p:cNvSpPr txBox="1"/>
          <p:nvPr/>
        </p:nvSpPr>
        <p:spPr>
          <a:xfrm>
            <a:off x="3661675" y="5706835"/>
            <a:ext cx="6557251" cy="430887"/>
          </a:xfrm>
          <a:prstGeom prst="rect">
            <a:avLst/>
          </a:prstGeom>
          <a:noFill/>
        </p:spPr>
        <p:txBody>
          <a:bodyPr wrap="square">
            <a:spAutoFit/>
          </a:bodyPr>
          <a:lstStyle/>
          <a:p>
            <a:pPr>
              <a:buNone/>
            </a:pPr>
            <a:r>
              <a:rPr lang="en-US" sz="1100" b="1" dirty="0">
                <a:solidFill>
                  <a:srgbClr val="FF0000"/>
                </a:solidFill>
              </a:rPr>
              <a:t>IMPACT</a:t>
            </a:r>
          </a:p>
          <a:p>
            <a:pPr>
              <a:buNone/>
            </a:pPr>
            <a:r>
              <a:rPr lang="en-US" sz="1100" dirty="0">
                <a:solidFill>
                  <a:srgbClr val="FF0000"/>
                </a:solidFill>
              </a:rPr>
              <a:t>Early detection → Reduced downtime → Smarter maintenance decisions</a:t>
            </a:r>
          </a:p>
        </p:txBody>
      </p:sp>
    </p:spTree>
    <p:extLst>
      <p:ext uri="{BB962C8B-B14F-4D97-AF65-F5344CB8AC3E}">
        <p14:creationId xmlns:p14="http://schemas.microsoft.com/office/powerpoint/2010/main" val="2120991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6</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358515" y="257621"/>
            <a:ext cx="5474970" cy="538609"/>
          </a:xfrm>
          <a:prstGeom prst="rect">
            <a:avLst/>
          </a:prstGeom>
          <a:noFill/>
        </p:spPr>
        <p:txBody>
          <a:bodyPr wrap="square" rtlCol="0">
            <a:spAutoFit/>
          </a:bodyPr>
          <a:lstStyle/>
          <a:p>
            <a:pPr algn="ctr"/>
            <a:r>
              <a:rPr lang="en-CH" dirty="0"/>
              <a:t>Prototype or Proof-of-Concept (2/2)</a:t>
            </a:r>
          </a:p>
          <a:p>
            <a:pPr algn="ctr"/>
            <a:r>
              <a:rPr lang="en-US" sz="1100" dirty="0"/>
              <a:t>Use this slide to write your prototype (font size = 11)</a:t>
            </a:r>
            <a:endParaRPr lang="en-CH" sz="1100" dirty="0"/>
          </a:p>
        </p:txBody>
      </p:sp>
      <p:sp>
        <p:nvSpPr>
          <p:cNvPr id="2" name="TextBox 1">
            <a:extLst>
              <a:ext uri="{FF2B5EF4-FFF2-40B4-BE49-F238E27FC236}">
                <a16:creationId xmlns:a16="http://schemas.microsoft.com/office/drawing/2014/main" id="{ECA29BD3-ECD3-779A-9248-B4A39672B6B5}"/>
              </a:ext>
            </a:extLst>
          </p:cNvPr>
          <p:cNvSpPr txBox="1"/>
          <p:nvPr/>
        </p:nvSpPr>
        <p:spPr>
          <a:xfrm>
            <a:off x="764566" y="5161252"/>
            <a:ext cx="11148060" cy="769441"/>
          </a:xfrm>
          <a:prstGeom prst="rect">
            <a:avLst/>
          </a:prstGeom>
          <a:noFill/>
        </p:spPr>
        <p:txBody>
          <a:bodyPr wrap="square" rtlCol="0">
            <a:spAutoFit/>
          </a:bodyPr>
          <a:lstStyle/>
          <a:p>
            <a:r>
              <a:rPr lang="en-US" sz="1100" dirty="0">
                <a:solidFill>
                  <a:srgbClr val="FF0000"/>
                </a:solidFill>
              </a:rPr>
              <a:t>The system provides automated alert management and advanced analytics for proactive maintenance. High-severity anomalies are detected in real time, enabling immediate triage and AI-assisted analysis. The analytics dashboard visualizes vibration trends, prediction accuracy, MTBF, and health score distribution, helping industries understand risk patterns and take preventive action before failures occur.</a:t>
            </a:r>
          </a:p>
          <a:p>
            <a:pPr algn="just"/>
            <a:endParaRPr lang="en-US" sz="1100" dirty="0">
              <a:solidFill>
                <a:srgbClr val="FF0000"/>
              </a:solidFill>
            </a:endParaRPr>
          </a:p>
        </p:txBody>
      </p:sp>
      <p:pic>
        <p:nvPicPr>
          <p:cNvPr id="3" name="Picture 2">
            <a:extLst>
              <a:ext uri="{FF2B5EF4-FFF2-40B4-BE49-F238E27FC236}">
                <a16:creationId xmlns:a16="http://schemas.microsoft.com/office/drawing/2014/main" id="{2E37CE5C-52DC-EFAF-3E7D-0CA407777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4542" y="1785292"/>
            <a:ext cx="5473268" cy="3075292"/>
          </a:xfrm>
          <a:prstGeom prst="rect">
            <a:avLst/>
          </a:prstGeom>
        </p:spPr>
      </p:pic>
      <p:pic>
        <p:nvPicPr>
          <p:cNvPr id="6" name="Picture 5">
            <a:extLst>
              <a:ext uri="{FF2B5EF4-FFF2-40B4-BE49-F238E27FC236}">
                <a16:creationId xmlns:a16="http://schemas.microsoft.com/office/drawing/2014/main" id="{647921B9-1714-796D-B241-0279519BC6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808" y="1785292"/>
            <a:ext cx="5556035" cy="3075292"/>
          </a:xfrm>
          <a:prstGeom prst="rect">
            <a:avLst/>
          </a:prstGeom>
        </p:spPr>
      </p:pic>
    </p:spTree>
    <p:extLst>
      <p:ext uri="{BB962C8B-B14F-4D97-AF65-F5344CB8AC3E}">
        <p14:creationId xmlns:p14="http://schemas.microsoft.com/office/powerpoint/2010/main" val="1585827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7</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358515" y="257621"/>
            <a:ext cx="5474970" cy="369332"/>
          </a:xfrm>
          <a:prstGeom prst="rect">
            <a:avLst/>
          </a:prstGeom>
          <a:noFill/>
        </p:spPr>
        <p:txBody>
          <a:bodyPr wrap="square" rtlCol="0">
            <a:spAutoFit/>
          </a:bodyPr>
          <a:lstStyle/>
          <a:p>
            <a:pPr algn="ctr"/>
            <a:r>
              <a:rPr lang="en-CH" dirty="0"/>
              <a:t>Market Needs &amp; Business Plan</a:t>
            </a:r>
          </a:p>
        </p:txBody>
      </p:sp>
      <p:sp>
        <p:nvSpPr>
          <p:cNvPr id="3" name="TextBox 2">
            <a:extLst>
              <a:ext uri="{FF2B5EF4-FFF2-40B4-BE49-F238E27FC236}">
                <a16:creationId xmlns:a16="http://schemas.microsoft.com/office/drawing/2014/main" id="{3EA688F6-6679-1C60-27D7-A3E28706AC3E}"/>
              </a:ext>
            </a:extLst>
          </p:cNvPr>
          <p:cNvSpPr txBox="1"/>
          <p:nvPr/>
        </p:nvSpPr>
        <p:spPr>
          <a:xfrm>
            <a:off x="521970" y="1013881"/>
            <a:ext cx="11148060" cy="4662815"/>
          </a:xfrm>
          <a:prstGeom prst="rect">
            <a:avLst/>
          </a:prstGeom>
          <a:noFill/>
        </p:spPr>
        <p:txBody>
          <a:bodyPr wrap="square" rtlCol="0">
            <a:spAutoFit/>
          </a:bodyPr>
          <a:lstStyle/>
          <a:p>
            <a:r>
              <a:rPr lang="en-IN" sz="1100" b="1" dirty="0">
                <a:solidFill>
                  <a:srgbClr val="FF0000"/>
                </a:solidFill>
              </a:rPr>
              <a:t>Market Need</a:t>
            </a:r>
          </a:p>
          <a:p>
            <a:r>
              <a:rPr lang="en-IN" sz="1100" dirty="0">
                <a:solidFill>
                  <a:srgbClr val="FF0000"/>
                </a:solidFill>
              </a:rPr>
              <a:t>India has 63+ million MSMEs.</a:t>
            </a:r>
          </a:p>
          <a:p>
            <a:r>
              <a:rPr lang="en-IN" sz="1100" dirty="0">
                <a:solidFill>
                  <a:srgbClr val="FF0000"/>
                </a:solidFill>
              </a:rPr>
              <a:t>Most lack predictive motor monitoring.</a:t>
            </a:r>
          </a:p>
          <a:p>
            <a:r>
              <a:rPr lang="en-IN" sz="1100" dirty="0">
                <a:solidFill>
                  <a:srgbClr val="FF0000"/>
                </a:solidFill>
              </a:rPr>
              <a:t>Motor failures cause 20–30% unplanned downtime.</a:t>
            </a:r>
          </a:p>
          <a:p>
            <a:r>
              <a:rPr lang="en-IN" sz="1100" dirty="0">
                <a:solidFill>
                  <a:srgbClr val="FF0000"/>
                </a:solidFill>
              </a:rPr>
              <a:t>Downtime = production loss + high repair cost.</a:t>
            </a:r>
          </a:p>
          <a:p>
            <a:r>
              <a:rPr lang="en-IN" sz="1100" dirty="0">
                <a:solidFill>
                  <a:srgbClr val="FF0000"/>
                </a:solidFill>
              </a:rPr>
              <a:t>MSMEs need affordable, intelligent, and easy-to-deploy solutions.</a:t>
            </a:r>
          </a:p>
          <a:p>
            <a:br>
              <a:rPr lang="en-IN" sz="1100" dirty="0">
                <a:solidFill>
                  <a:srgbClr val="FF0000"/>
                </a:solidFill>
              </a:rPr>
            </a:br>
            <a:r>
              <a:rPr lang="en-IN" sz="1100" b="1" dirty="0">
                <a:solidFill>
                  <a:srgbClr val="FF0000"/>
                </a:solidFill>
              </a:rPr>
              <a:t>Business Model</a:t>
            </a:r>
          </a:p>
          <a:p>
            <a:r>
              <a:rPr lang="en-IN" sz="1100" dirty="0">
                <a:solidFill>
                  <a:srgbClr val="FF0000"/>
                </a:solidFill>
              </a:rPr>
              <a:t>SaaS subscription per motor (₹499/month)</a:t>
            </a:r>
          </a:p>
          <a:p>
            <a:r>
              <a:rPr lang="en-IN" sz="1100" dirty="0">
                <a:solidFill>
                  <a:srgbClr val="FF0000"/>
                </a:solidFill>
              </a:rPr>
              <a:t>Pro AI Diagnostics Plan</a:t>
            </a:r>
          </a:p>
          <a:p>
            <a:r>
              <a:rPr lang="en-IN" sz="1100" dirty="0">
                <a:solidFill>
                  <a:srgbClr val="FF0000"/>
                </a:solidFill>
              </a:rPr>
              <a:t>Cluster Enterprise Dashboard</a:t>
            </a:r>
          </a:p>
          <a:p>
            <a:r>
              <a:rPr lang="en-IN" sz="1100" dirty="0">
                <a:solidFill>
                  <a:srgbClr val="FF0000"/>
                </a:solidFill>
              </a:rPr>
              <a:t>Insurance &amp; Compliance Reporting Module</a:t>
            </a:r>
          </a:p>
          <a:p>
            <a:br>
              <a:rPr lang="en-IN" sz="1100" dirty="0">
                <a:solidFill>
                  <a:srgbClr val="FF0000"/>
                </a:solidFill>
              </a:rPr>
            </a:br>
            <a:r>
              <a:rPr lang="en-IN" sz="1100" b="1" dirty="0">
                <a:solidFill>
                  <a:srgbClr val="FF0000"/>
                </a:solidFill>
              </a:rPr>
              <a:t>Revenue Potential</a:t>
            </a:r>
          </a:p>
          <a:p>
            <a:r>
              <a:rPr lang="en-IN" sz="1100" dirty="0">
                <a:solidFill>
                  <a:srgbClr val="FF0000"/>
                </a:solidFill>
              </a:rPr>
              <a:t>Even 0.5% adoption (315,000 MSMEs)</a:t>
            </a:r>
            <a:br>
              <a:rPr lang="en-IN" sz="1100" dirty="0">
                <a:solidFill>
                  <a:srgbClr val="FF0000"/>
                </a:solidFill>
              </a:rPr>
            </a:br>
            <a:r>
              <a:rPr lang="en-IN" sz="1100" dirty="0">
                <a:solidFill>
                  <a:srgbClr val="FF0000"/>
                </a:solidFill>
              </a:rPr>
              <a:t>→ Strong recurring revenue model</a:t>
            </a:r>
            <a:br>
              <a:rPr lang="en-IN" sz="1100" dirty="0">
                <a:solidFill>
                  <a:srgbClr val="FF0000"/>
                </a:solidFill>
              </a:rPr>
            </a:br>
            <a:r>
              <a:rPr lang="en-IN" sz="1100" dirty="0">
                <a:solidFill>
                  <a:srgbClr val="FF0000"/>
                </a:solidFill>
              </a:rPr>
              <a:t>→ Highly scalable nationwide.</a:t>
            </a:r>
          </a:p>
          <a:p>
            <a:br>
              <a:rPr lang="en-IN" sz="1100" dirty="0">
                <a:solidFill>
                  <a:srgbClr val="FF0000"/>
                </a:solidFill>
              </a:rPr>
            </a:br>
            <a:r>
              <a:rPr lang="en-IN" sz="1100" b="1" dirty="0">
                <a:solidFill>
                  <a:srgbClr val="FF0000"/>
                </a:solidFill>
              </a:rPr>
              <a:t>Roadmap</a:t>
            </a:r>
          </a:p>
          <a:p>
            <a:pPr marL="171450" indent="-171450">
              <a:buFont typeface="Wingdings" panose="05000000000000000000" pitchFamily="2" charset="2"/>
              <a:buChar char="Ø"/>
            </a:pPr>
            <a:r>
              <a:rPr lang="en-IN" sz="1100" dirty="0">
                <a:solidFill>
                  <a:srgbClr val="FF0000"/>
                </a:solidFill>
              </a:rPr>
              <a:t>Software launch</a:t>
            </a:r>
          </a:p>
          <a:p>
            <a:pPr marL="171450" indent="-171450">
              <a:buFont typeface="Wingdings" panose="05000000000000000000" pitchFamily="2" charset="2"/>
              <a:buChar char="Ø"/>
            </a:pPr>
            <a:r>
              <a:rPr lang="en-IN" sz="1100" dirty="0">
                <a:solidFill>
                  <a:srgbClr val="FF0000"/>
                </a:solidFill>
              </a:rPr>
              <a:t>Sensor integration</a:t>
            </a:r>
          </a:p>
          <a:p>
            <a:pPr marL="171450" indent="-171450">
              <a:buFont typeface="Wingdings" panose="05000000000000000000" pitchFamily="2" charset="2"/>
              <a:buChar char="Ø"/>
            </a:pPr>
            <a:r>
              <a:rPr lang="en-IN" sz="1100" dirty="0">
                <a:solidFill>
                  <a:srgbClr val="FF0000"/>
                </a:solidFill>
              </a:rPr>
              <a:t>MSME pilot deployment</a:t>
            </a:r>
          </a:p>
          <a:p>
            <a:pPr marL="171450" indent="-171450">
              <a:buFont typeface="Wingdings" panose="05000000000000000000" pitchFamily="2" charset="2"/>
              <a:buChar char="Ø"/>
            </a:pPr>
            <a:r>
              <a:rPr lang="en-IN" sz="1100" dirty="0">
                <a:solidFill>
                  <a:srgbClr val="FF0000"/>
                </a:solidFill>
              </a:rPr>
              <a:t>Cluster &amp; utility partnerships</a:t>
            </a:r>
          </a:p>
          <a:p>
            <a:br>
              <a:rPr lang="en-IN" sz="1100" dirty="0">
                <a:solidFill>
                  <a:srgbClr val="FF0000"/>
                </a:solidFill>
              </a:rPr>
            </a:br>
            <a:r>
              <a:rPr lang="en-IN" sz="1100" b="1" dirty="0">
                <a:solidFill>
                  <a:srgbClr val="FF0000"/>
                </a:solidFill>
              </a:rPr>
              <a:t>Vision</a:t>
            </a:r>
          </a:p>
          <a:p>
            <a:r>
              <a:rPr lang="en-IN" sz="1100" dirty="0">
                <a:solidFill>
                  <a:srgbClr val="FF0000"/>
                </a:solidFill>
              </a:rPr>
              <a:t>Make predictive industrial intelligence accessible to every MSME.</a:t>
            </a:r>
          </a:p>
          <a:p>
            <a:pPr algn="just"/>
            <a:endParaRPr lang="en-CH" sz="1100" dirty="0">
              <a:solidFill>
                <a:srgbClr val="FF0000"/>
              </a:solidFill>
            </a:endParaRPr>
          </a:p>
        </p:txBody>
      </p:sp>
    </p:spTree>
    <p:extLst>
      <p:ext uri="{BB962C8B-B14F-4D97-AF65-F5344CB8AC3E}">
        <p14:creationId xmlns:p14="http://schemas.microsoft.com/office/powerpoint/2010/main" val="4093497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8</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358515" y="416241"/>
            <a:ext cx="5474970" cy="369332"/>
          </a:xfrm>
          <a:prstGeom prst="rect">
            <a:avLst/>
          </a:prstGeom>
          <a:noFill/>
        </p:spPr>
        <p:txBody>
          <a:bodyPr wrap="square" rtlCol="0">
            <a:spAutoFit/>
          </a:bodyPr>
          <a:lstStyle/>
          <a:p>
            <a:pPr algn="ctr"/>
            <a:r>
              <a:rPr lang="en-CH" dirty="0"/>
              <a:t>Research and Literature Review</a:t>
            </a:r>
          </a:p>
        </p:txBody>
      </p:sp>
      <p:sp>
        <p:nvSpPr>
          <p:cNvPr id="3" name="TextBox 2">
            <a:extLst>
              <a:ext uri="{FF2B5EF4-FFF2-40B4-BE49-F238E27FC236}">
                <a16:creationId xmlns:a16="http://schemas.microsoft.com/office/drawing/2014/main" id="{3EA688F6-6679-1C60-27D7-A3E28706AC3E}"/>
              </a:ext>
            </a:extLst>
          </p:cNvPr>
          <p:cNvSpPr txBox="1"/>
          <p:nvPr/>
        </p:nvSpPr>
        <p:spPr>
          <a:xfrm>
            <a:off x="699252" y="1179284"/>
            <a:ext cx="9331156" cy="4324261"/>
          </a:xfrm>
          <a:prstGeom prst="rect">
            <a:avLst/>
          </a:prstGeom>
          <a:noFill/>
        </p:spPr>
        <p:txBody>
          <a:bodyPr wrap="square" rtlCol="0">
            <a:spAutoFit/>
          </a:bodyPr>
          <a:lstStyle/>
          <a:p>
            <a:r>
              <a:rPr lang="en-IN" sz="1100" b="1" dirty="0">
                <a:solidFill>
                  <a:srgbClr val="FF0000"/>
                </a:solidFill>
              </a:rPr>
              <a:t>What Is Known</a:t>
            </a:r>
          </a:p>
          <a:p>
            <a:pPr marL="171450" indent="-171450">
              <a:buFont typeface="Arial" panose="020B0604020202020204" pitchFamily="34" charset="0"/>
              <a:buChar char="•"/>
            </a:pPr>
            <a:r>
              <a:rPr lang="en-IN" sz="1100" dirty="0">
                <a:solidFill>
                  <a:srgbClr val="FF0000"/>
                </a:solidFill>
              </a:rPr>
              <a:t>Voltage imbalance → increases negative sequence currents → motor overheating.</a:t>
            </a:r>
          </a:p>
          <a:p>
            <a:pPr marL="171450" indent="-171450">
              <a:buFont typeface="Arial" panose="020B0604020202020204" pitchFamily="34" charset="0"/>
              <a:buChar char="•"/>
            </a:pPr>
            <a:r>
              <a:rPr lang="en-IN" sz="1100" dirty="0">
                <a:solidFill>
                  <a:srgbClr val="FF0000"/>
                </a:solidFill>
              </a:rPr>
              <a:t>Harmonic distortion → increases electrical losses → efficiency drop.</a:t>
            </a:r>
          </a:p>
          <a:p>
            <a:pPr marL="171450" indent="-171450">
              <a:buFont typeface="Arial" panose="020B0604020202020204" pitchFamily="34" charset="0"/>
              <a:buChar char="•"/>
            </a:pPr>
            <a:r>
              <a:rPr lang="en-IN" sz="1100" dirty="0">
                <a:solidFill>
                  <a:srgbClr val="FF0000"/>
                </a:solidFill>
              </a:rPr>
              <a:t>Electrical stress → accelerates bearing wear.</a:t>
            </a:r>
          </a:p>
          <a:p>
            <a:pPr marL="171450" indent="-171450">
              <a:buFont typeface="Arial" panose="020B0604020202020204" pitchFamily="34" charset="0"/>
              <a:buChar char="•"/>
            </a:pPr>
            <a:r>
              <a:rPr lang="en-IN" sz="1100" dirty="0">
                <a:solidFill>
                  <a:srgbClr val="FF0000"/>
                </a:solidFill>
              </a:rPr>
              <a:t>Early predictive maintenance → reduces downtime by 20–30%.</a:t>
            </a:r>
          </a:p>
          <a:p>
            <a:endParaRPr lang="en-IN" sz="1100" dirty="0">
              <a:solidFill>
                <a:srgbClr val="FF0000"/>
              </a:solidFill>
            </a:endParaRPr>
          </a:p>
          <a:p>
            <a:r>
              <a:rPr lang="en-US" sz="1100" b="1" dirty="0">
                <a:solidFill>
                  <a:srgbClr val="FF0000"/>
                </a:solidFill>
              </a:rPr>
              <a:t>What Is Missing</a:t>
            </a:r>
          </a:p>
          <a:p>
            <a:pPr marL="171450" indent="-171450">
              <a:buFont typeface="Arial" panose="020B0604020202020204" pitchFamily="34" charset="0"/>
              <a:buChar char="•"/>
            </a:pPr>
            <a:r>
              <a:rPr lang="en-US" sz="1100" dirty="0">
                <a:solidFill>
                  <a:srgbClr val="FF0000"/>
                </a:solidFill>
              </a:rPr>
              <a:t>Most systems detect vibration </a:t>
            </a:r>
            <a:r>
              <a:rPr lang="en-US" sz="1100" i="1" dirty="0">
                <a:solidFill>
                  <a:srgbClr val="FF0000"/>
                </a:solidFill>
              </a:rPr>
              <a:t>after</a:t>
            </a:r>
            <a:r>
              <a:rPr lang="en-US" sz="1100" dirty="0">
                <a:solidFill>
                  <a:srgbClr val="FF0000"/>
                </a:solidFill>
              </a:rPr>
              <a:t> damage begins.</a:t>
            </a:r>
          </a:p>
          <a:p>
            <a:pPr marL="171450" indent="-171450">
              <a:buFont typeface="Arial" panose="020B0604020202020204" pitchFamily="34" charset="0"/>
              <a:buChar char="•"/>
            </a:pPr>
            <a:r>
              <a:rPr lang="en-US" sz="1100" dirty="0">
                <a:solidFill>
                  <a:srgbClr val="FF0000"/>
                </a:solidFill>
              </a:rPr>
              <a:t>High-cost, hardware-heavy enterprise solutions.</a:t>
            </a:r>
          </a:p>
          <a:p>
            <a:pPr marL="171450" indent="-171450">
              <a:buFont typeface="Arial" panose="020B0604020202020204" pitchFamily="34" charset="0"/>
              <a:buChar char="•"/>
            </a:pPr>
            <a:r>
              <a:rPr lang="en-US" sz="1100" dirty="0">
                <a:solidFill>
                  <a:srgbClr val="FF0000"/>
                </a:solidFill>
              </a:rPr>
              <a:t>No economic loss translation for MSMEs.</a:t>
            </a:r>
          </a:p>
          <a:p>
            <a:pPr marL="171450" indent="-171450">
              <a:buFont typeface="Arial" panose="020B0604020202020204" pitchFamily="34" charset="0"/>
              <a:buChar char="•"/>
            </a:pPr>
            <a:r>
              <a:rPr lang="en-US" sz="1100" dirty="0">
                <a:solidFill>
                  <a:srgbClr val="FF0000"/>
                </a:solidFill>
              </a:rPr>
              <a:t>No secure, claim-ready documentation.</a:t>
            </a:r>
          </a:p>
          <a:p>
            <a:pPr marL="171450" indent="-171450">
              <a:buFont typeface="Arial" panose="020B0604020202020204" pitchFamily="34" charset="0"/>
              <a:buChar char="•"/>
            </a:pPr>
            <a:r>
              <a:rPr lang="en-US" sz="1100" dirty="0">
                <a:solidFill>
                  <a:srgbClr val="FF0000"/>
                </a:solidFill>
              </a:rPr>
              <a:t>Limited support for low-connectivity industrial clusters.</a:t>
            </a:r>
          </a:p>
          <a:p>
            <a:endParaRPr lang="en-IN" sz="1100" dirty="0">
              <a:solidFill>
                <a:srgbClr val="FF0000"/>
              </a:solidFill>
            </a:endParaRPr>
          </a:p>
          <a:p>
            <a:r>
              <a:rPr lang="en-US" sz="1100" b="1" dirty="0">
                <a:solidFill>
                  <a:srgbClr val="FF0000"/>
                </a:solidFill>
              </a:rPr>
              <a:t>How </a:t>
            </a:r>
            <a:r>
              <a:rPr lang="en-US" sz="1100" b="1" dirty="0" err="1">
                <a:solidFill>
                  <a:srgbClr val="FF0000"/>
                </a:solidFill>
              </a:rPr>
              <a:t>PulseGuard</a:t>
            </a:r>
            <a:r>
              <a:rPr lang="en-US" sz="1100" b="1" dirty="0">
                <a:solidFill>
                  <a:srgbClr val="FF0000"/>
                </a:solidFill>
              </a:rPr>
              <a:t> Nexus Advances the Field</a:t>
            </a:r>
          </a:p>
          <a:p>
            <a:pPr marL="171450" indent="-171450">
              <a:buFont typeface="Arial" panose="020B0604020202020204" pitchFamily="34" charset="0"/>
              <a:buChar char="•"/>
            </a:pPr>
            <a:r>
              <a:rPr lang="en-US" sz="1100" dirty="0">
                <a:solidFill>
                  <a:srgbClr val="FF0000"/>
                </a:solidFill>
              </a:rPr>
              <a:t>Electrical-first early detection (before mechanical failure).</a:t>
            </a:r>
          </a:p>
          <a:p>
            <a:pPr marL="171450" indent="-171450">
              <a:buFont typeface="Arial" panose="020B0604020202020204" pitchFamily="34" charset="0"/>
              <a:buChar char="•"/>
            </a:pPr>
            <a:r>
              <a:rPr lang="en-US" sz="1100" dirty="0">
                <a:solidFill>
                  <a:srgbClr val="FF0000"/>
                </a:solidFill>
              </a:rPr>
              <a:t>AI Confidence + Risk Classification.</a:t>
            </a:r>
          </a:p>
          <a:p>
            <a:pPr marL="171450" indent="-171450">
              <a:buFont typeface="Arial" panose="020B0604020202020204" pitchFamily="34" charset="0"/>
              <a:buChar char="•"/>
            </a:pPr>
            <a:r>
              <a:rPr lang="en-US" sz="1100" dirty="0">
                <a:solidFill>
                  <a:srgbClr val="FF0000"/>
                </a:solidFill>
              </a:rPr>
              <a:t>Economic loss conversion (technical → financial insight).</a:t>
            </a:r>
          </a:p>
          <a:p>
            <a:pPr marL="171450" indent="-171450">
              <a:buFont typeface="Arial" panose="020B0604020202020204" pitchFamily="34" charset="0"/>
              <a:buChar char="•"/>
            </a:pPr>
            <a:r>
              <a:rPr lang="en-US" sz="1100" dirty="0">
                <a:solidFill>
                  <a:srgbClr val="FF0000"/>
                </a:solidFill>
              </a:rPr>
              <a:t>Secure reporting with digital integrity verification.</a:t>
            </a:r>
          </a:p>
          <a:p>
            <a:pPr marL="171450" indent="-171450">
              <a:buFont typeface="Arial" panose="020B0604020202020204" pitchFamily="34" charset="0"/>
              <a:buChar char="•"/>
            </a:pPr>
            <a:r>
              <a:rPr lang="en-US" sz="1100" dirty="0">
                <a:solidFill>
                  <a:srgbClr val="FF0000"/>
                </a:solidFill>
              </a:rPr>
              <a:t>Offline-first, MSME-focused architecture.</a:t>
            </a:r>
          </a:p>
          <a:p>
            <a:br>
              <a:rPr lang="en-US" sz="1100" dirty="0">
                <a:solidFill>
                  <a:srgbClr val="FF0000"/>
                </a:solidFill>
              </a:rPr>
            </a:br>
            <a:endParaRPr lang="en-US" sz="1100" dirty="0">
              <a:solidFill>
                <a:srgbClr val="FF0000"/>
              </a:solidFill>
            </a:endParaRPr>
          </a:p>
          <a:p>
            <a:r>
              <a:rPr lang="en-US" sz="1100" b="1" dirty="0">
                <a:solidFill>
                  <a:srgbClr val="FF0000"/>
                </a:solidFill>
              </a:rPr>
              <a:t>Key Insight</a:t>
            </a:r>
          </a:p>
          <a:p>
            <a:r>
              <a:rPr lang="en-US" sz="1100" dirty="0">
                <a:solidFill>
                  <a:srgbClr val="FF0000"/>
                </a:solidFill>
              </a:rPr>
              <a:t>Existing systems monitor machines.</a:t>
            </a:r>
            <a:br>
              <a:rPr lang="en-US" sz="1100" dirty="0">
                <a:solidFill>
                  <a:srgbClr val="FF0000"/>
                </a:solidFill>
              </a:rPr>
            </a:br>
            <a:r>
              <a:rPr lang="en-US" sz="1100" b="1" dirty="0" err="1">
                <a:solidFill>
                  <a:srgbClr val="FF0000"/>
                </a:solidFill>
              </a:rPr>
              <a:t>PulseGuard</a:t>
            </a:r>
            <a:r>
              <a:rPr lang="en-US" sz="1100" b="1" dirty="0">
                <a:solidFill>
                  <a:srgbClr val="FF0000"/>
                </a:solidFill>
              </a:rPr>
              <a:t> Nexus converts stress into actionable, verifiable industrial intelligence.</a:t>
            </a:r>
            <a:endParaRPr lang="en-US" sz="1100" dirty="0">
              <a:solidFill>
                <a:srgbClr val="FF0000"/>
              </a:solidFill>
            </a:endParaRPr>
          </a:p>
          <a:p>
            <a:endParaRPr lang="en-IN" sz="1100" dirty="0"/>
          </a:p>
        </p:txBody>
      </p:sp>
    </p:spTree>
    <p:extLst>
      <p:ext uri="{BB962C8B-B14F-4D97-AF65-F5344CB8AC3E}">
        <p14:creationId xmlns:p14="http://schemas.microsoft.com/office/powerpoint/2010/main" val="214388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9</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358515" y="355152"/>
            <a:ext cx="5474970" cy="369332"/>
          </a:xfrm>
          <a:prstGeom prst="rect">
            <a:avLst/>
          </a:prstGeom>
          <a:noFill/>
        </p:spPr>
        <p:txBody>
          <a:bodyPr wrap="square" rtlCol="0">
            <a:spAutoFit/>
          </a:bodyPr>
          <a:lstStyle/>
          <a:p>
            <a:pPr algn="ctr"/>
            <a:r>
              <a:rPr lang="en-CH" dirty="0"/>
              <a:t>Competition + Next Steps</a:t>
            </a:r>
          </a:p>
        </p:txBody>
      </p:sp>
      <p:sp>
        <p:nvSpPr>
          <p:cNvPr id="3" name="TextBox 2">
            <a:extLst>
              <a:ext uri="{FF2B5EF4-FFF2-40B4-BE49-F238E27FC236}">
                <a16:creationId xmlns:a16="http://schemas.microsoft.com/office/drawing/2014/main" id="{3EA688F6-6679-1C60-27D7-A3E28706AC3E}"/>
              </a:ext>
            </a:extLst>
          </p:cNvPr>
          <p:cNvSpPr txBox="1"/>
          <p:nvPr/>
        </p:nvSpPr>
        <p:spPr>
          <a:xfrm>
            <a:off x="521970" y="1038141"/>
            <a:ext cx="11148060" cy="5170646"/>
          </a:xfrm>
          <a:prstGeom prst="rect">
            <a:avLst/>
          </a:prstGeom>
          <a:noFill/>
        </p:spPr>
        <p:txBody>
          <a:bodyPr wrap="square" rtlCol="0">
            <a:spAutoFit/>
          </a:bodyPr>
          <a:lstStyle/>
          <a:p>
            <a:r>
              <a:rPr lang="en-US" sz="1100" b="1" u="sng" dirty="0">
                <a:solidFill>
                  <a:srgbClr val="FF0000"/>
                </a:solidFill>
              </a:rPr>
              <a:t>Competitors</a:t>
            </a:r>
          </a:p>
          <a:p>
            <a:endParaRPr lang="en-US" sz="1100" b="1" dirty="0">
              <a:solidFill>
                <a:srgbClr val="FF0000"/>
              </a:solidFill>
            </a:endParaRPr>
          </a:p>
          <a:p>
            <a:r>
              <a:rPr lang="en-US" sz="1100" b="1" dirty="0">
                <a:solidFill>
                  <a:srgbClr val="FF0000"/>
                </a:solidFill>
              </a:rPr>
              <a:t>Traditional Vibration Monitoring Systems</a:t>
            </a:r>
            <a:br>
              <a:rPr lang="en-US" sz="1100" dirty="0">
                <a:solidFill>
                  <a:srgbClr val="FF0000"/>
                </a:solidFill>
              </a:rPr>
            </a:br>
            <a:r>
              <a:rPr lang="en-US" sz="1100" dirty="0">
                <a:solidFill>
                  <a:srgbClr val="FF0000"/>
                </a:solidFill>
              </a:rPr>
              <a:t>These systems focus primarily on mechanical vibration analysis. While effective for detecting late-stage bearing wear, they often identify problems only after significant degradation has already occurred. They typically lack electrical stress modeling and economic translation features.</a:t>
            </a:r>
          </a:p>
          <a:p>
            <a:r>
              <a:rPr lang="en-US" sz="1100" b="1" dirty="0">
                <a:solidFill>
                  <a:srgbClr val="FF0000"/>
                </a:solidFill>
              </a:rPr>
              <a:t>Industrial IoT Dashboards</a:t>
            </a:r>
            <a:br>
              <a:rPr lang="en-US" sz="1100" dirty="0">
                <a:solidFill>
                  <a:srgbClr val="FF0000"/>
                </a:solidFill>
              </a:rPr>
            </a:br>
            <a:r>
              <a:rPr lang="en-US" sz="1100" dirty="0">
                <a:solidFill>
                  <a:srgbClr val="FF0000"/>
                </a:solidFill>
              </a:rPr>
              <a:t>IoT-based platforms collect and visualize machine data but mainly provide monitoring and visualization capabilities. They require strong connectivity infrastructure and often lack predictive confidence scoring or secure documentation features tailored to MSMEs.</a:t>
            </a:r>
          </a:p>
          <a:p>
            <a:r>
              <a:rPr lang="en-US" sz="1100" b="1" dirty="0">
                <a:solidFill>
                  <a:srgbClr val="FF0000"/>
                </a:solidFill>
              </a:rPr>
              <a:t>Enterprise Predictive Maintenance Platforms</a:t>
            </a:r>
            <a:br>
              <a:rPr lang="en-US" sz="1100" dirty="0">
                <a:solidFill>
                  <a:srgbClr val="FF0000"/>
                </a:solidFill>
              </a:rPr>
            </a:br>
            <a:r>
              <a:rPr lang="en-US" sz="1100" dirty="0">
                <a:solidFill>
                  <a:srgbClr val="FF0000"/>
                </a:solidFill>
              </a:rPr>
              <a:t>Large-scale industrial analytics solutions offer advanced diagnostics but are expensive, hardware-intensive, and designed for large enterprises. Their complexity and cost make them less accessible for MSME clusters.</a:t>
            </a:r>
          </a:p>
          <a:p>
            <a:endParaRPr lang="en-US" sz="1100" dirty="0">
              <a:solidFill>
                <a:srgbClr val="FF0000"/>
              </a:solidFill>
            </a:endParaRPr>
          </a:p>
          <a:p>
            <a:r>
              <a:rPr lang="en-US" sz="1100" b="1" u="sng" dirty="0">
                <a:solidFill>
                  <a:srgbClr val="FF0000"/>
                </a:solidFill>
              </a:rPr>
              <a:t>Our Key Advantages</a:t>
            </a:r>
          </a:p>
          <a:p>
            <a:endParaRPr lang="en-US" sz="1100" b="1" u="sng" dirty="0">
              <a:solidFill>
                <a:srgbClr val="FF0000"/>
              </a:solidFill>
            </a:endParaRPr>
          </a:p>
          <a:p>
            <a:r>
              <a:rPr lang="en-US" sz="1100" b="1" dirty="0">
                <a:solidFill>
                  <a:srgbClr val="FF0000"/>
                </a:solidFill>
              </a:rPr>
              <a:t>AI Confidence Modeling</a:t>
            </a:r>
            <a:r>
              <a:rPr lang="en-US" sz="1100" dirty="0">
                <a:solidFill>
                  <a:srgbClr val="FF0000"/>
                </a:solidFill>
              </a:rPr>
              <a:t> – Provides prediction reliability estimation, improving decision trust.</a:t>
            </a:r>
          </a:p>
          <a:p>
            <a:r>
              <a:rPr lang="en-US" sz="1100" b="1" dirty="0">
                <a:solidFill>
                  <a:srgbClr val="FF0000"/>
                </a:solidFill>
              </a:rPr>
              <a:t>Economic Loss Translation</a:t>
            </a:r>
            <a:r>
              <a:rPr lang="en-US" sz="1100" dirty="0">
                <a:solidFill>
                  <a:srgbClr val="FF0000"/>
                </a:solidFill>
              </a:rPr>
              <a:t> – Converts technical degradation into clear financial impact.</a:t>
            </a:r>
          </a:p>
          <a:p>
            <a:r>
              <a:rPr lang="en-US" sz="1100" b="1" dirty="0">
                <a:solidFill>
                  <a:srgbClr val="FF0000"/>
                </a:solidFill>
              </a:rPr>
              <a:t>Secure Claim Validation</a:t>
            </a:r>
            <a:r>
              <a:rPr lang="en-US" sz="1100" dirty="0">
                <a:solidFill>
                  <a:srgbClr val="FF0000"/>
                </a:solidFill>
              </a:rPr>
              <a:t> – Generates professional reports with authentication mechanisms.</a:t>
            </a:r>
          </a:p>
          <a:p>
            <a:r>
              <a:rPr lang="en-US" sz="1100" b="1" dirty="0">
                <a:solidFill>
                  <a:srgbClr val="FF0000"/>
                </a:solidFill>
              </a:rPr>
              <a:t>Digital Integrity Verification</a:t>
            </a:r>
            <a:r>
              <a:rPr lang="en-US" sz="1100" dirty="0">
                <a:solidFill>
                  <a:srgbClr val="FF0000"/>
                </a:solidFill>
              </a:rPr>
              <a:t> – Ensures data authenticity for audits or insurance review.</a:t>
            </a:r>
          </a:p>
          <a:p>
            <a:r>
              <a:rPr lang="en-US" sz="1100" b="1" dirty="0">
                <a:solidFill>
                  <a:srgbClr val="FF0000"/>
                </a:solidFill>
              </a:rPr>
              <a:t>MSME Affordability &amp; Offline-First Design</a:t>
            </a:r>
            <a:r>
              <a:rPr lang="en-US" sz="1100" dirty="0">
                <a:solidFill>
                  <a:srgbClr val="FF0000"/>
                </a:solidFill>
              </a:rPr>
              <a:t> – Built for low-infrastructure environments.</a:t>
            </a:r>
          </a:p>
          <a:p>
            <a:r>
              <a:rPr lang="en-US" sz="1100" dirty="0" err="1">
                <a:solidFill>
                  <a:srgbClr val="FF0000"/>
                </a:solidFill>
              </a:rPr>
              <a:t>PulseGuard</a:t>
            </a:r>
            <a:r>
              <a:rPr lang="en-US" sz="1100" dirty="0">
                <a:solidFill>
                  <a:srgbClr val="FF0000"/>
                </a:solidFill>
              </a:rPr>
              <a:t> Nexus bridges the gap between simple monitoring tools and expensive enterprise systems.</a:t>
            </a:r>
          </a:p>
          <a:p>
            <a:endParaRPr lang="en-US" sz="1100" dirty="0">
              <a:solidFill>
                <a:srgbClr val="FF0000"/>
              </a:solidFill>
            </a:endParaRPr>
          </a:p>
          <a:p>
            <a:r>
              <a:rPr lang="en-US" sz="1100" b="1" u="sng" dirty="0">
                <a:solidFill>
                  <a:srgbClr val="FF0000"/>
                </a:solidFill>
              </a:rPr>
              <a:t>Next Steps</a:t>
            </a:r>
          </a:p>
          <a:p>
            <a:endParaRPr lang="en-US" sz="1100" b="1" u="sng" dirty="0">
              <a:solidFill>
                <a:srgbClr val="FF0000"/>
              </a:solidFill>
            </a:endParaRPr>
          </a:p>
          <a:p>
            <a:r>
              <a:rPr lang="en-US" sz="1100" dirty="0">
                <a:solidFill>
                  <a:srgbClr val="FF0000"/>
                </a:solidFill>
              </a:rPr>
              <a:t>Integrate real Electrical Signature Analysis (ESA) and vibration sensors.</a:t>
            </a:r>
          </a:p>
          <a:p>
            <a:r>
              <a:rPr lang="en-US" sz="1100" dirty="0">
                <a:solidFill>
                  <a:srgbClr val="FF0000"/>
                </a:solidFill>
              </a:rPr>
              <a:t>Implement live </a:t>
            </a:r>
            <a:r>
              <a:rPr lang="en-US" sz="1100" dirty="0" err="1">
                <a:solidFill>
                  <a:srgbClr val="FF0000"/>
                </a:solidFill>
              </a:rPr>
              <a:t>Groq</a:t>
            </a:r>
            <a:r>
              <a:rPr lang="en-US" sz="1100" dirty="0">
                <a:solidFill>
                  <a:srgbClr val="FF0000"/>
                </a:solidFill>
              </a:rPr>
              <a:t> LPU acceleration for faster AI inference.</a:t>
            </a:r>
          </a:p>
          <a:p>
            <a:r>
              <a:rPr lang="en-US" sz="1100" dirty="0">
                <a:solidFill>
                  <a:srgbClr val="FF0000"/>
                </a:solidFill>
              </a:rPr>
              <a:t>Deploy pilot testing in selected MSME clusters.</a:t>
            </a:r>
          </a:p>
          <a:p>
            <a:r>
              <a:rPr lang="en-US" sz="1100" dirty="0">
                <a:solidFill>
                  <a:srgbClr val="FF0000"/>
                </a:solidFill>
              </a:rPr>
              <a:t>Add blockchain-backed documentation for immutable verification.</a:t>
            </a:r>
          </a:p>
          <a:p>
            <a:r>
              <a:rPr lang="en-US" sz="1100" dirty="0">
                <a:solidFill>
                  <a:srgbClr val="FF0000"/>
                </a:solidFill>
              </a:rPr>
              <a:t>Establish partnerships with utilities and insurance providers for validation use cases.</a:t>
            </a:r>
          </a:p>
          <a:p>
            <a:r>
              <a:rPr lang="en-US" sz="1100" dirty="0">
                <a:solidFill>
                  <a:srgbClr val="FF0000"/>
                </a:solidFill>
              </a:rPr>
              <a:t>These steps will strengthen scalability, credibility, and competitive differentiation.</a:t>
            </a:r>
          </a:p>
          <a:p>
            <a:endParaRPr lang="en-US" sz="1100" dirty="0"/>
          </a:p>
        </p:txBody>
      </p:sp>
    </p:spTree>
    <p:extLst>
      <p:ext uri="{BB962C8B-B14F-4D97-AF65-F5344CB8AC3E}">
        <p14:creationId xmlns:p14="http://schemas.microsoft.com/office/powerpoint/2010/main" val="1677353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10</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230826" y="479942"/>
            <a:ext cx="5474970" cy="369332"/>
          </a:xfrm>
          <a:prstGeom prst="rect">
            <a:avLst/>
          </a:prstGeom>
          <a:noFill/>
        </p:spPr>
        <p:txBody>
          <a:bodyPr wrap="square" rtlCol="0">
            <a:spAutoFit/>
          </a:bodyPr>
          <a:lstStyle/>
          <a:p>
            <a:pPr algn="ctr"/>
            <a:r>
              <a:rPr lang="en-CH" dirty="0"/>
              <a:t>References</a:t>
            </a:r>
          </a:p>
        </p:txBody>
      </p:sp>
      <p:sp>
        <p:nvSpPr>
          <p:cNvPr id="3" name="TextBox 2">
            <a:extLst>
              <a:ext uri="{FF2B5EF4-FFF2-40B4-BE49-F238E27FC236}">
                <a16:creationId xmlns:a16="http://schemas.microsoft.com/office/drawing/2014/main" id="{3EA688F6-6679-1C60-27D7-A3E28706AC3E}"/>
              </a:ext>
            </a:extLst>
          </p:cNvPr>
          <p:cNvSpPr txBox="1"/>
          <p:nvPr/>
        </p:nvSpPr>
        <p:spPr>
          <a:xfrm>
            <a:off x="826413" y="1243415"/>
            <a:ext cx="10539171" cy="2970044"/>
          </a:xfrm>
          <a:prstGeom prst="rect">
            <a:avLst/>
          </a:prstGeom>
          <a:noFill/>
        </p:spPr>
        <p:txBody>
          <a:bodyPr wrap="square" rtlCol="0">
            <a:spAutoFit/>
          </a:bodyPr>
          <a:lstStyle/>
          <a:p>
            <a:pPr algn="just"/>
            <a:r>
              <a:rPr lang="en-IN" sz="1100" dirty="0">
                <a:solidFill>
                  <a:srgbClr val="FF0000"/>
                </a:solidFill>
              </a:rPr>
              <a:t>V. Sousa, H. Hernández, E. C. Quispe, J. R. Gómez and P. R. </a:t>
            </a:r>
            <a:r>
              <a:rPr lang="en-IN" sz="1100" dirty="0" err="1">
                <a:solidFill>
                  <a:srgbClr val="FF0000"/>
                </a:solidFill>
              </a:rPr>
              <a:t>Viego</a:t>
            </a:r>
            <a:r>
              <a:rPr lang="en-IN" sz="1100" dirty="0">
                <a:solidFill>
                  <a:srgbClr val="FF0000"/>
                </a:solidFill>
              </a:rPr>
              <a:t>, "Analysis of harmonic distortion generated by PWM motor drives," </a:t>
            </a:r>
            <a:r>
              <a:rPr lang="en-IN" sz="1100" i="1" dirty="0">
                <a:solidFill>
                  <a:srgbClr val="FF0000"/>
                </a:solidFill>
              </a:rPr>
              <a:t>2017 IEEE Workshop on Power Electronics and Power Quality Applications (PEPQA)</a:t>
            </a:r>
            <a:r>
              <a:rPr lang="en-IN" sz="1100" dirty="0">
                <a:solidFill>
                  <a:srgbClr val="FF0000"/>
                </a:solidFill>
              </a:rPr>
              <a:t>, Bogota, Colombia, 2017, pp. 1-6, </a:t>
            </a:r>
            <a:r>
              <a:rPr lang="en-IN" sz="1100" dirty="0" err="1">
                <a:solidFill>
                  <a:srgbClr val="FF0000"/>
                </a:solidFill>
              </a:rPr>
              <a:t>doi</a:t>
            </a:r>
            <a:r>
              <a:rPr lang="en-IN" sz="1100" dirty="0">
                <a:solidFill>
                  <a:srgbClr val="FF0000"/>
                </a:solidFill>
              </a:rPr>
              <a:t>: 10.1109/PEPQA.2017.7981644.</a:t>
            </a:r>
            <a:br>
              <a:rPr lang="en-IN" sz="1100" dirty="0">
                <a:solidFill>
                  <a:srgbClr val="FF0000"/>
                </a:solidFill>
              </a:rPr>
            </a:br>
            <a:r>
              <a:rPr lang="en-IN" sz="1100" dirty="0">
                <a:solidFill>
                  <a:srgbClr val="FF0000"/>
                </a:solidFill>
              </a:rPr>
              <a:t>keywords: {Harmonic </a:t>
            </a:r>
            <a:r>
              <a:rPr lang="en-IN" sz="1100" dirty="0" err="1">
                <a:solidFill>
                  <a:srgbClr val="FF0000"/>
                </a:solidFill>
              </a:rPr>
              <a:t>analysis;Pulse</a:t>
            </a:r>
            <a:r>
              <a:rPr lang="en-IN" sz="1100" dirty="0">
                <a:solidFill>
                  <a:srgbClr val="FF0000"/>
                </a:solidFill>
              </a:rPr>
              <a:t> width </a:t>
            </a:r>
            <a:r>
              <a:rPr lang="en-IN" sz="1100" dirty="0" err="1">
                <a:solidFill>
                  <a:srgbClr val="FF0000"/>
                </a:solidFill>
              </a:rPr>
              <a:t>modulation;Motor</a:t>
            </a:r>
            <a:r>
              <a:rPr lang="en-IN" sz="1100" dirty="0">
                <a:solidFill>
                  <a:srgbClr val="FF0000"/>
                </a:solidFill>
              </a:rPr>
              <a:t> </a:t>
            </a:r>
            <a:r>
              <a:rPr lang="en-IN" sz="1100" dirty="0" err="1">
                <a:solidFill>
                  <a:srgbClr val="FF0000"/>
                </a:solidFill>
              </a:rPr>
              <a:t>drives;Power</a:t>
            </a:r>
            <a:r>
              <a:rPr lang="en-IN" sz="1100" dirty="0">
                <a:solidFill>
                  <a:srgbClr val="FF0000"/>
                </a:solidFill>
              </a:rPr>
              <a:t> harmonic </a:t>
            </a:r>
            <a:r>
              <a:rPr lang="en-IN" sz="1100" dirty="0" err="1">
                <a:solidFill>
                  <a:srgbClr val="FF0000"/>
                </a:solidFill>
              </a:rPr>
              <a:t>filters;Harmonic</a:t>
            </a:r>
            <a:r>
              <a:rPr lang="en-IN" sz="1100" dirty="0">
                <a:solidFill>
                  <a:srgbClr val="FF0000"/>
                </a:solidFill>
              </a:rPr>
              <a:t> </a:t>
            </a:r>
            <a:r>
              <a:rPr lang="en-IN" sz="1100" dirty="0" err="1">
                <a:solidFill>
                  <a:srgbClr val="FF0000"/>
                </a:solidFill>
              </a:rPr>
              <a:t>distortion;Induction</a:t>
            </a:r>
            <a:r>
              <a:rPr lang="en-IN" sz="1100" dirty="0">
                <a:solidFill>
                  <a:srgbClr val="FF0000"/>
                </a:solidFill>
              </a:rPr>
              <a:t> </a:t>
            </a:r>
            <a:r>
              <a:rPr lang="en-IN" sz="1100" dirty="0" err="1">
                <a:solidFill>
                  <a:srgbClr val="FF0000"/>
                </a:solidFill>
              </a:rPr>
              <a:t>motors;electrical</a:t>
            </a:r>
            <a:r>
              <a:rPr lang="en-IN" sz="1100" dirty="0">
                <a:solidFill>
                  <a:srgbClr val="FF0000"/>
                </a:solidFill>
              </a:rPr>
              <a:t> industrial </a:t>
            </a:r>
            <a:r>
              <a:rPr lang="en-IN" sz="1100" dirty="0" err="1">
                <a:solidFill>
                  <a:srgbClr val="FF0000"/>
                </a:solidFill>
              </a:rPr>
              <a:t>system;harmonic</a:t>
            </a:r>
            <a:r>
              <a:rPr lang="en-IN" sz="1100" dirty="0">
                <a:solidFill>
                  <a:srgbClr val="FF0000"/>
                </a:solidFill>
              </a:rPr>
              <a:t> </a:t>
            </a:r>
            <a:r>
              <a:rPr lang="en-IN" sz="1100" dirty="0" err="1">
                <a:solidFill>
                  <a:srgbClr val="FF0000"/>
                </a:solidFill>
              </a:rPr>
              <a:t>distortion;PWM</a:t>
            </a:r>
            <a:r>
              <a:rPr lang="en-IN" sz="1100" dirty="0">
                <a:solidFill>
                  <a:srgbClr val="FF0000"/>
                </a:solidFill>
              </a:rPr>
              <a:t> motor </a:t>
            </a:r>
            <a:r>
              <a:rPr lang="en-IN" sz="1100" dirty="0" err="1">
                <a:solidFill>
                  <a:srgbClr val="FF0000"/>
                </a:solidFill>
              </a:rPr>
              <a:t>drives;harmonic</a:t>
            </a:r>
            <a:r>
              <a:rPr lang="en-IN" sz="1100" dirty="0">
                <a:solidFill>
                  <a:srgbClr val="FF0000"/>
                </a:solidFill>
              </a:rPr>
              <a:t> statistical analysis},</a:t>
            </a:r>
          </a:p>
          <a:p>
            <a:pPr algn="just"/>
            <a:endParaRPr lang="en-IN" sz="1100" dirty="0">
              <a:solidFill>
                <a:srgbClr val="FF0000"/>
              </a:solidFill>
            </a:endParaRPr>
          </a:p>
          <a:p>
            <a:pPr algn="just"/>
            <a:r>
              <a:rPr lang="en-CH" sz="1100" dirty="0">
                <a:solidFill>
                  <a:srgbClr val="FF0000"/>
                </a:solidFill>
              </a:rPr>
              <a:t>A. M. Dos Santos Alonso, L. De Oro Arenas, J. P. Bonaldo, J. De A. olímpio Filho, F. P. Marafão and H. K. M. Paredes, "Power Quality Improvement in Commercial and Industrial Sites: An Integrated Approach Mitigating Power Oscillations," in IEEE Access, vol. 12, pp. 50872-50884, 2024, doi: 10.1109/ACCESS.2024.3385991.</a:t>
            </a:r>
          </a:p>
          <a:p>
            <a:pPr algn="just"/>
            <a:r>
              <a:rPr lang="en-CH" sz="1100" dirty="0">
                <a:solidFill>
                  <a:srgbClr val="FF0000"/>
                </a:solidFill>
              </a:rPr>
              <a:t>keywords: {Reactive power;Inverters;Induction motors;Harmonic analysis;Active filters;Power quality;Power harmonic filters;Oscillators;Reactive power;Power grids;Industrial facilities;Commercialization;Conservative power theory;induction motor;instantaneous power oscillations;multifunctional inverters;power factor;power quality},</a:t>
            </a:r>
          </a:p>
          <a:p>
            <a:pPr algn="just"/>
            <a:endParaRPr lang="en-CH" sz="1100" dirty="0">
              <a:solidFill>
                <a:srgbClr val="FF0000"/>
              </a:solidFill>
            </a:endParaRPr>
          </a:p>
          <a:p>
            <a:pPr algn="just"/>
            <a:r>
              <a:rPr lang="en-CH" sz="1100" dirty="0">
                <a:solidFill>
                  <a:srgbClr val="FF0000"/>
                </a:solidFill>
              </a:rPr>
              <a:t>M. L. Singgih, F. F. Zakiyyah and Andrew, "Machine Learning for Predictive Maintenance: A Literature Review," 2024 Seventh International Conference on Vocational Education and Electrical Engineering (ICVEE), Malang, Indonesia, 2024, pp. 250-256, doi: 10.1109/ICVEE63912.2024.10823713. keywords: {Support vector machines;Machine learning algorithms;Accuracy;Reviews;Bibliographies;Predictive models;Prediction algorithms;Real-time systems;Classification algorithms;Predictive maintenance;AdaBoost Classifier;Machine Learning;Predictive Maintenance;Random Forest;Supervised Vector Machine;Time-series Classification},</a:t>
            </a:r>
          </a:p>
          <a:p>
            <a:pPr algn="just"/>
            <a:endParaRPr lang="en-CH" sz="1100" dirty="0">
              <a:solidFill>
                <a:srgbClr val="FF0000"/>
              </a:solidFill>
            </a:endParaRPr>
          </a:p>
          <a:p>
            <a:pPr algn="just"/>
            <a:endParaRPr lang="en-CH" sz="1100" dirty="0">
              <a:solidFill>
                <a:srgbClr val="FF0000"/>
              </a:solidFill>
            </a:endParaRPr>
          </a:p>
        </p:txBody>
      </p:sp>
    </p:spTree>
    <p:extLst>
      <p:ext uri="{BB962C8B-B14F-4D97-AF65-F5344CB8AC3E}">
        <p14:creationId xmlns:p14="http://schemas.microsoft.com/office/powerpoint/2010/main" val="39592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11</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532820" y="355384"/>
            <a:ext cx="4939748" cy="707886"/>
          </a:xfrm>
          <a:prstGeom prst="rect">
            <a:avLst/>
          </a:prstGeom>
          <a:noFill/>
        </p:spPr>
        <p:txBody>
          <a:bodyPr wrap="square" rtlCol="0">
            <a:spAutoFit/>
          </a:bodyPr>
          <a:lstStyle/>
          <a:p>
            <a:pPr algn="ctr"/>
            <a:r>
              <a:rPr lang="en-CH" sz="4000" dirty="0"/>
              <a:t>APPENDIX</a:t>
            </a:r>
          </a:p>
        </p:txBody>
      </p:sp>
      <p:pic>
        <p:nvPicPr>
          <p:cNvPr id="10" name="Picture 9">
            <a:extLst>
              <a:ext uri="{FF2B5EF4-FFF2-40B4-BE49-F238E27FC236}">
                <a16:creationId xmlns:a16="http://schemas.microsoft.com/office/drawing/2014/main" id="{212B2D6B-41E6-648D-DD2E-48730C61ED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680" y="1136622"/>
            <a:ext cx="7927089" cy="3646461"/>
          </a:xfrm>
          <a:prstGeom prst="rect">
            <a:avLst/>
          </a:prstGeom>
        </p:spPr>
      </p:pic>
      <p:pic>
        <p:nvPicPr>
          <p:cNvPr id="12" name="Picture 11">
            <a:extLst>
              <a:ext uri="{FF2B5EF4-FFF2-40B4-BE49-F238E27FC236}">
                <a16:creationId xmlns:a16="http://schemas.microsoft.com/office/drawing/2014/main" id="{18B9FD0E-9EBE-5618-2F54-759CB2142457}"/>
              </a:ext>
            </a:extLst>
          </p:cNvPr>
          <p:cNvPicPr>
            <a:picLocks noChangeAspect="1"/>
          </p:cNvPicPr>
          <p:nvPr/>
        </p:nvPicPr>
        <p:blipFill>
          <a:blip r:embed="rId4"/>
          <a:srcRect l="46870" t="17490" r="28218" b="22002"/>
          <a:stretch>
            <a:fillRect/>
          </a:stretch>
        </p:blipFill>
        <p:spPr>
          <a:xfrm>
            <a:off x="8234501" y="1147666"/>
            <a:ext cx="3471486" cy="4742891"/>
          </a:xfrm>
          <a:prstGeom prst="rect">
            <a:avLst/>
          </a:prstGeom>
        </p:spPr>
      </p:pic>
      <p:sp>
        <p:nvSpPr>
          <p:cNvPr id="14" name="Rectangle 13">
            <a:extLst>
              <a:ext uri="{FF2B5EF4-FFF2-40B4-BE49-F238E27FC236}">
                <a16:creationId xmlns:a16="http://schemas.microsoft.com/office/drawing/2014/main" id="{39A4A6CB-7599-953A-93A9-2CF6E55AE540}"/>
              </a:ext>
            </a:extLst>
          </p:cNvPr>
          <p:cNvSpPr/>
          <p:nvPr/>
        </p:nvSpPr>
        <p:spPr>
          <a:xfrm>
            <a:off x="2724538" y="5044409"/>
            <a:ext cx="4488025" cy="10450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dirty="0"/>
              <a:t>This demonstrates the digitally generated Warranty Evidence Report, summarizing asset metrics, AI-based diagnostics, and risk classification. It provides structured, verifiable documentation to support maintenance validation and potential warranty or utility claims.</a:t>
            </a:r>
            <a:endParaRPr lang="en-IN" sz="1100" dirty="0"/>
          </a:p>
        </p:txBody>
      </p:sp>
      <p:sp>
        <p:nvSpPr>
          <p:cNvPr id="17" name="Arrow: Right 16">
            <a:extLst>
              <a:ext uri="{FF2B5EF4-FFF2-40B4-BE49-F238E27FC236}">
                <a16:creationId xmlns:a16="http://schemas.microsoft.com/office/drawing/2014/main" id="{B9C5383C-C97B-3EC8-A855-41B333371BA0}"/>
              </a:ext>
            </a:extLst>
          </p:cNvPr>
          <p:cNvSpPr/>
          <p:nvPr/>
        </p:nvSpPr>
        <p:spPr>
          <a:xfrm>
            <a:off x="7397295" y="5305666"/>
            <a:ext cx="603940" cy="5225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39606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12</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626126" y="241667"/>
            <a:ext cx="4939748" cy="954107"/>
          </a:xfrm>
          <a:prstGeom prst="rect">
            <a:avLst/>
          </a:prstGeom>
          <a:noFill/>
        </p:spPr>
        <p:txBody>
          <a:bodyPr wrap="square" rtlCol="0">
            <a:spAutoFit/>
          </a:bodyPr>
          <a:lstStyle/>
          <a:p>
            <a:pPr algn="ctr"/>
            <a:r>
              <a:rPr lang="en-CH" sz="4000" dirty="0"/>
              <a:t>APPENDIX A</a:t>
            </a:r>
          </a:p>
          <a:p>
            <a:pPr algn="ctr"/>
            <a:endParaRPr lang="en-CH" sz="1600" dirty="0"/>
          </a:p>
        </p:txBody>
      </p:sp>
      <p:pic>
        <p:nvPicPr>
          <p:cNvPr id="8" name="Picture 7">
            <a:extLst>
              <a:ext uri="{FF2B5EF4-FFF2-40B4-BE49-F238E27FC236}">
                <a16:creationId xmlns:a16="http://schemas.microsoft.com/office/drawing/2014/main" id="{B6E0D959-8C89-8FAE-FA69-C5496EFF9C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996" y="1037153"/>
            <a:ext cx="8903514" cy="4985968"/>
          </a:xfrm>
          <a:prstGeom prst="rect">
            <a:avLst/>
          </a:prstGeom>
        </p:spPr>
      </p:pic>
      <p:sp>
        <p:nvSpPr>
          <p:cNvPr id="11" name="TextBox 10">
            <a:extLst>
              <a:ext uri="{FF2B5EF4-FFF2-40B4-BE49-F238E27FC236}">
                <a16:creationId xmlns:a16="http://schemas.microsoft.com/office/drawing/2014/main" id="{61FDA8B9-A318-DB42-3476-5FBC7F937CB8}"/>
              </a:ext>
            </a:extLst>
          </p:cNvPr>
          <p:cNvSpPr txBox="1"/>
          <p:nvPr/>
        </p:nvSpPr>
        <p:spPr>
          <a:xfrm>
            <a:off x="9529884" y="1539121"/>
            <a:ext cx="2266120" cy="3139321"/>
          </a:xfrm>
          <a:prstGeom prst="rect">
            <a:avLst/>
          </a:prstGeom>
          <a:noFill/>
        </p:spPr>
        <p:txBody>
          <a:bodyPr wrap="square">
            <a:spAutoFit/>
          </a:bodyPr>
          <a:lstStyle/>
          <a:p>
            <a:r>
              <a:rPr lang="en-US" sz="1100" dirty="0"/>
              <a:t>The Asset Inventory module provides centralized visibility of all industrial equipment within the facility. </a:t>
            </a:r>
          </a:p>
          <a:p>
            <a:endParaRPr lang="en-US" sz="1100" dirty="0"/>
          </a:p>
          <a:p>
            <a:r>
              <a:rPr lang="en-US" sz="1100" dirty="0"/>
              <a:t>It displays real-time health scores, THD levels, temperature readings, operational status, and last maintenance records.</a:t>
            </a:r>
          </a:p>
          <a:p>
            <a:endParaRPr lang="en-US" sz="1100" dirty="0"/>
          </a:p>
          <a:p>
            <a:r>
              <a:rPr lang="en-US" sz="1100" dirty="0"/>
              <a:t> By consolidating asset performance data into a single dashboard, the system enables early risk identification, prioritization of critical machines, and informed maintenance planning to prevent unexpected failures.</a:t>
            </a:r>
            <a:endParaRPr lang="en-IN" sz="1100" dirty="0"/>
          </a:p>
        </p:txBody>
      </p:sp>
      <p:sp>
        <p:nvSpPr>
          <p:cNvPr id="12" name="Arrow: Left-Up 11">
            <a:extLst>
              <a:ext uri="{FF2B5EF4-FFF2-40B4-BE49-F238E27FC236}">
                <a16:creationId xmlns:a16="http://schemas.microsoft.com/office/drawing/2014/main" id="{1CDBD858-C636-96E5-DA3F-3854408D8DCA}"/>
              </a:ext>
            </a:extLst>
          </p:cNvPr>
          <p:cNvSpPr/>
          <p:nvPr/>
        </p:nvSpPr>
        <p:spPr>
          <a:xfrm>
            <a:off x="9465460" y="4627984"/>
            <a:ext cx="1222310" cy="1059235"/>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77190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13</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626126" y="241667"/>
            <a:ext cx="4939748" cy="707886"/>
          </a:xfrm>
          <a:prstGeom prst="rect">
            <a:avLst/>
          </a:prstGeom>
          <a:noFill/>
        </p:spPr>
        <p:txBody>
          <a:bodyPr wrap="square" rtlCol="0">
            <a:spAutoFit/>
          </a:bodyPr>
          <a:lstStyle/>
          <a:p>
            <a:pPr algn="ctr"/>
            <a:r>
              <a:rPr lang="en-CH" sz="4000" dirty="0"/>
              <a:t>APPENDIX B</a:t>
            </a:r>
          </a:p>
        </p:txBody>
      </p:sp>
      <p:pic>
        <p:nvPicPr>
          <p:cNvPr id="7" name="Picture 6">
            <a:extLst>
              <a:ext uri="{FF2B5EF4-FFF2-40B4-BE49-F238E27FC236}">
                <a16:creationId xmlns:a16="http://schemas.microsoft.com/office/drawing/2014/main" id="{D12C69BF-925B-CA13-21A4-7C5238D6E9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588" y="1354455"/>
            <a:ext cx="7613779" cy="4499454"/>
          </a:xfrm>
          <a:prstGeom prst="rect">
            <a:avLst/>
          </a:prstGeom>
        </p:spPr>
      </p:pic>
      <p:sp>
        <p:nvSpPr>
          <p:cNvPr id="12" name="TextBox 11">
            <a:extLst>
              <a:ext uri="{FF2B5EF4-FFF2-40B4-BE49-F238E27FC236}">
                <a16:creationId xmlns:a16="http://schemas.microsoft.com/office/drawing/2014/main" id="{A22EF693-5C82-7ED9-44CB-2EE05239472A}"/>
              </a:ext>
            </a:extLst>
          </p:cNvPr>
          <p:cNvSpPr txBox="1"/>
          <p:nvPr/>
        </p:nvSpPr>
        <p:spPr>
          <a:xfrm>
            <a:off x="7994038" y="3283034"/>
            <a:ext cx="2894288" cy="1954381"/>
          </a:xfrm>
          <a:prstGeom prst="rect">
            <a:avLst/>
          </a:prstGeom>
          <a:noFill/>
        </p:spPr>
        <p:txBody>
          <a:bodyPr wrap="square">
            <a:spAutoFit/>
          </a:bodyPr>
          <a:lstStyle/>
          <a:p>
            <a:pPr>
              <a:buNone/>
            </a:pPr>
            <a:r>
              <a:rPr lang="en-US" sz="1100" dirty="0"/>
              <a:t>The System Configuration module enables secure AI engine setup and customizable operational thresholds. Users can configure the AI model, set alert limits for THD and temperature, and define health warning and critical levels. This flexibility allows industries to adapt monitoring parameters based on machine type, operational environment, and risk tolerance, ensuring accurate anomaly detection and reliable predictive insights.</a:t>
            </a:r>
          </a:p>
        </p:txBody>
      </p:sp>
      <p:sp>
        <p:nvSpPr>
          <p:cNvPr id="15" name="Arrow: Curved Left 14">
            <a:extLst>
              <a:ext uri="{FF2B5EF4-FFF2-40B4-BE49-F238E27FC236}">
                <a16:creationId xmlns:a16="http://schemas.microsoft.com/office/drawing/2014/main" id="{675C3876-CA27-C73F-B74E-B9601E300B95}"/>
              </a:ext>
            </a:extLst>
          </p:cNvPr>
          <p:cNvSpPr/>
          <p:nvPr/>
        </p:nvSpPr>
        <p:spPr>
          <a:xfrm rot="1758692">
            <a:off x="8091401" y="5340724"/>
            <a:ext cx="690465" cy="102636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422157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14</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626126" y="241667"/>
            <a:ext cx="4939748" cy="954107"/>
          </a:xfrm>
          <a:prstGeom prst="rect">
            <a:avLst/>
          </a:prstGeom>
          <a:noFill/>
        </p:spPr>
        <p:txBody>
          <a:bodyPr wrap="square" rtlCol="0">
            <a:spAutoFit/>
          </a:bodyPr>
          <a:lstStyle/>
          <a:p>
            <a:pPr algn="ctr"/>
            <a:r>
              <a:rPr lang="en-CH" sz="4000" dirty="0"/>
              <a:t>APPENDIX C</a:t>
            </a:r>
          </a:p>
          <a:p>
            <a:pPr algn="ctr"/>
            <a:r>
              <a:rPr lang="en-GB" sz="1600" dirty="0"/>
              <a:t>Use this slide for any extra content of your choice</a:t>
            </a:r>
            <a:endParaRPr lang="en-CH" sz="1600" dirty="0"/>
          </a:p>
        </p:txBody>
      </p:sp>
      <p:pic>
        <p:nvPicPr>
          <p:cNvPr id="2" name="Picture 1">
            <a:extLst>
              <a:ext uri="{FF2B5EF4-FFF2-40B4-BE49-F238E27FC236}">
                <a16:creationId xmlns:a16="http://schemas.microsoft.com/office/drawing/2014/main" id="{16306A03-3718-4832-49B2-2E72B97452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8025" y="1539121"/>
            <a:ext cx="7316556" cy="4110990"/>
          </a:xfrm>
          <a:prstGeom prst="rect">
            <a:avLst/>
          </a:prstGeom>
        </p:spPr>
      </p:pic>
      <p:sp>
        <p:nvSpPr>
          <p:cNvPr id="6" name="TextBox 5">
            <a:extLst>
              <a:ext uri="{FF2B5EF4-FFF2-40B4-BE49-F238E27FC236}">
                <a16:creationId xmlns:a16="http://schemas.microsoft.com/office/drawing/2014/main" id="{6B2952C2-9B48-65CD-3CC1-281D11BFF81A}"/>
              </a:ext>
            </a:extLst>
          </p:cNvPr>
          <p:cNvSpPr txBox="1"/>
          <p:nvPr/>
        </p:nvSpPr>
        <p:spPr>
          <a:xfrm>
            <a:off x="769091" y="2786702"/>
            <a:ext cx="3317134" cy="1615827"/>
          </a:xfrm>
          <a:prstGeom prst="rect">
            <a:avLst/>
          </a:prstGeom>
          <a:noFill/>
        </p:spPr>
        <p:txBody>
          <a:bodyPr wrap="square">
            <a:spAutoFit/>
          </a:bodyPr>
          <a:lstStyle/>
          <a:p>
            <a:r>
              <a:rPr lang="en-US" sz="1100" dirty="0"/>
              <a:t>The Maintenance Management module tracks scheduled, ongoing, and completed service activities across all industrial assets. It maintains a structured history of routine, preventive, and emergency repairs, including cost and technician details. By linking maintenance records with asset health data, the system enables informed planning, cost analysis, and proactive service scheduling to minimize unexpected breakdowns.</a:t>
            </a:r>
            <a:endParaRPr lang="en-IN" sz="1100" dirty="0"/>
          </a:p>
        </p:txBody>
      </p:sp>
      <p:sp>
        <p:nvSpPr>
          <p:cNvPr id="8" name="Arrow: Bent 7">
            <a:extLst>
              <a:ext uri="{FF2B5EF4-FFF2-40B4-BE49-F238E27FC236}">
                <a16:creationId xmlns:a16="http://schemas.microsoft.com/office/drawing/2014/main" id="{31780771-6C56-5002-5FF5-EB2D47CFE1BC}"/>
              </a:ext>
            </a:extLst>
          </p:cNvPr>
          <p:cNvSpPr/>
          <p:nvPr/>
        </p:nvSpPr>
        <p:spPr>
          <a:xfrm>
            <a:off x="2521165" y="1882468"/>
            <a:ext cx="1565060" cy="825581"/>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547891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15</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626126" y="241667"/>
            <a:ext cx="4939748" cy="707886"/>
          </a:xfrm>
          <a:prstGeom prst="rect">
            <a:avLst/>
          </a:prstGeom>
          <a:noFill/>
        </p:spPr>
        <p:txBody>
          <a:bodyPr wrap="square" rtlCol="0">
            <a:spAutoFit/>
          </a:bodyPr>
          <a:lstStyle/>
          <a:p>
            <a:pPr algn="ctr"/>
            <a:r>
              <a:rPr lang="en-CH" sz="4000" dirty="0"/>
              <a:t>APPENDIX D</a:t>
            </a:r>
          </a:p>
        </p:txBody>
      </p:sp>
      <p:pic>
        <p:nvPicPr>
          <p:cNvPr id="7" name="Picture 6">
            <a:extLst>
              <a:ext uri="{FF2B5EF4-FFF2-40B4-BE49-F238E27FC236}">
                <a16:creationId xmlns:a16="http://schemas.microsoft.com/office/drawing/2014/main" id="{394B91A3-161C-134C-35A8-F9002CD70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2310" y="1018492"/>
            <a:ext cx="9713167" cy="5002568"/>
          </a:xfrm>
          <a:prstGeom prst="rect">
            <a:avLst/>
          </a:prstGeom>
        </p:spPr>
      </p:pic>
    </p:spTree>
    <p:extLst>
      <p:ext uri="{BB962C8B-B14F-4D97-AF65-F5344CB8AC3E}">
        <p14:creationId xmlns:p14="http://schemas.microsoft.com/office/powerpoint/2010/main" val="975306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16</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626126" y="241667"/>
            <a:ext cx="4939748" cy="707886"/>
          </a:xfrm>
          <a:prstGeom prst="rect">
            <a:avLst/>
          </a:prstGeom>
          <a:noFill/>
        </p:spPr>
        <p:txBody>
          <a:bodyPr wrap="square" rtlCol="0">
            <a:spAutoFit/>
          </a:bodyPr>
          <a:lstStyle/>
          <a:p>
            <a:pPr algn="ctr"/>
            <a:r>
              <a:rPr lang="en-CH" sz="4000" dirty="0"/>
              <a:t>APPENDIX E</a:t>
            </a:r>
          </a:p>
        </p:txBody>
      </p:sp>
      <p:pic>
        <p:nvPicPr>
          <p:cNvPr id="4" name="Picture 3">
            <a:extLst>
              <a:ext uri="{FF2B5EF4-FFF2-40B4-BE49-F238E27FC236}">
                <a16:creationId xmlns:a16="http://schemas.microsoft.com/office/drawing/2014/main" id="{D3419B3C-BD28-571F-A93D-D5F76A0E4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8348" y="949553"/>
            <a:ext cx="9626738" cy="5126238"/>
          </a:xfrm>
          <a:prstGeom prst="rect">
            <a:avLst/>
          </a:prstGeom>
        </p:spPr>
      </p:pic>
    </p:spTree>
    <p:extLst>
      <p:ext uri="{BB962C8B-B14F-4D97-AF65-F5344CB8AC3E}">
        <p14:creationId xmlns:p14="http://schemas.microsoft.com/office/powerpoint/2010/main" val="537182951"/>
      </p:ext>
    </p:extLst>
  </p:cSld>
  <p:clrMapOvr>
    <a:masterClrMapping/>
  </p:clrMapOvr>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1269B0"/>
      </a:accent1>
      <a:accent2>
        <a:srgbClr val="91056A"/>
      </a:accent2>
      <a:accent3>
        <a:srgbClr val="007A96"/>
      </a:accent3>
      <a:accent4>
        <a:srgbClr val="485A2C"/>
      </a:accent4>
      <a:accent5>
        <a:srgbClr val="A8322D"/>
      </a:accent5>
      <a:accent6>
        <a:srgbClr val="72791C"/>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xtern">
      <a:srgbClr val="1F407A"/>
    </a:custClr>
    <a:custClr name="Intern">
      <a:srgbClr val="485A2C"/>
    </a:custClr>
    <a:custClr name="ETH 3">
      <a:srgbClr val="1269B0"/>
    </a:custClr>
    <a:custClr name="ETH 4">
      <a:srgbClr val="72791C"/>
    </a:custClr>
    <a:custClr name="ETH 5">
      <a:srgbClr val="91056A"/>
    </a:custClr>
    <a:custClr name="ETH 6">
      <a:srgbClr val="6F6F6F"/>
    </a:custClr>
    <a:custClr name="ETH 7">
      <a:srgbClr val="A8322D"/>
    </a:custClr>
    <a:custClr name="ETH 8">
      <a:srgbClr val="007A96"/>
    </a:custClr>
    <a:custClr name="ETH 9">
      <a:srgbClr val="956013"/>
    </a:custClr>
  </a:custClrLst>
  <a:extLst>
    <a:ext uri="{05A4C25C-085E-4340-85A3-A5531E510DB2}">
      <thm15:themeFamily xmlns:thm15="http://schemas.microsoft.com/office/thememl/2012/main" name="Präsentation1" id="{14245BD0-795E-45C4-8F56-20887326467A}" vid="{230BD0BD-C392-4E12-84D2-EC8121982B2A}"/>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1269B0"/>
      </a:accent1>
      <a:accent2>
        <a:srgbClr val="91056A"/>
      </a:accent2>
      <a:accent3>
        <a:srgbClr val="007A96"/>
      </a:accent3>
      <a:accent4>
        <a:srgbClr val="485A2C"/>
      </a:accent4>
      <a:accent5>
        <a:srgbClr val="A8322D"/>
      </a:accent5>
      <a:accent6>
        <a:srgbClr val="72791C"/>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xtern">
      <a:srgbClr val="1F407A"/>
    </a:custClr>
    <a:custClr name="Intern">
      <a:srgbClr val="485A2C"/>
    </a:custClr>
    <a:custClr name="ETH 3">
      <a:srgbClr val="1269B0"/>
    </a:custClr>
    <a:custClr name="ETH 4">
      <a:srgbClr val="72791C"/>
    </a:custClr>
    <a:custClr name="ETH 5">
      <a:srgbClr val="91056A"/>
    </a:custClr>
    <a:custClr name="ETH 6">
      <a:srgbClr val="6F6F6F"/>
    </a:custClr>
    <a:custClr name="ETH 7">
      <a:srgbClr val="A8322D"/>
    </a:custClr>
    <a:custClr name="ETH 8">
      <a:srgbClr val="007A96"/>
    </a:custClr>
    <a:custClr name="ETH 9">
      <a:srgbClr val="956013"/>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1269B0"/>
      </a:accent1>
      <a:accent2>
        <a:srgbClr val="91056A"/>
      </a:accent2>
      <a:accent3>
        <a:srgbClr val="007A96"/>
      </a:accent3>
      <a:accent4>
        <a:srgbClr val="485A2C"/>
      </a:accent4>
      <a:accent5>
        <a:srgbClr val="A8322D"/>
      </a:accent5>
      <a:accent6>
        <a:srgbClr val="72791C"/>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db9abfe-5ce8-4f76-8b99-8770d1465f3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C1B9433BA6EFD44588358D008DB0055B" ma:contentTypeVersion="4" ma:contentTypeDescription="Ein neues Dokument erstellen." ma:contentTypeScope="" ma:versionID="b6c86d1d0308c261ef5d0b544376a666">
  <xsd:schema xmlns:xsd="http://www.w3.org/2001/XMLSchema" xmlns:xs="http://www.w3.org/2001/XMLSchema" xmlns:p="http://schemas.microsoft.com/office/2006/metadata/properties" xmlns:ns3="2db9abfe-5ce8-4f76-8b99-8770d1465f3d" targetNamespace="http://schemas.microsoft.com/office/2006/metadata/properties" ma:root="true" ma:fieldsID="e7284149ef9e718b56ca6e0cd1f63c12" ns3:_="">
    <xsd:import namespace="2db9abfe-5ce8-4f76-8b99-8770d1465f3d"/>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b9abfe-5ce8-4f76-8b99-8770d1465f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6D2D6E-4203-493F-B6F0-ED8150D57BC1}">
  <ds:schemaRefs>
    <ds:schemaRef ds:uri="http://purl.org/dc/terms/"/>
    <ds:schemaRef ds:uri="2db9abfe-5ce8-4f76-8b99-8770d1465f3d"/>
    <ds:schemaRef ds:uri="http://schemas.microsoft.com/office/2006/metadata/properties"/>
    <ds:schemaRef ds:uri="http://purl.org/dc/dcmitype/"/>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13611CA-D5B2-45A5-B000-D8A8501C05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b9abfe-5ce8-4f76-8b99-8770d1465f3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81D17D-0E3C-4D9D-BA0B-FA67AB4BA9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ETH PPT Persönlich EN</Template>
  <TotalTime>60018</TotalTime>
  <Words>2123</Words>
  <Application>Microsoft Office PowerPoint</Application>
  <PresentationFormat>Widescreen</PresentationFormat>
  <Paragraphs>203</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Corbel</vt:lpstr>
      <vt:lpstr>Symbol</vt:lpstr>
      <vt:lpstr>Wingdings</vt:lpstr>
      <vt:lpstr>ETH Zürich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ETH Zuerich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Experiments and the research process</dc:title>
  <dc:creator>Franke  Henrik</dc:creator>
  <cp:lastModifiedBy>NARENDRAN SUBRAMANIAN</cp:lastModifiedBy>
  <cp:revision>5319</cp:revision>
  <dcterms:created xsi:type="dcterms:W3CDTF">2021-02-09T08:01:58Z</dcterms:created>
  <dcterms:modified xsi:type="dcterms:W3CDTF">2026-02-19T06:57:40Z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0x010100C1B9433BA6EFD44588358D008DB0055B</vt:lpwstr>
  </property>
</Properties>
</file>